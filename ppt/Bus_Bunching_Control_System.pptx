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297680" cy="6858000"/>
          </a:xfrm>
          <a:prstGeom prst="rect">
            <a:avLst/>
          </a:prstGeom>
          <a:solidFill>
            <a:srgbClr val="F5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914400" y="4114800"/>
            <a:ext cx="1463040" cy="1097280"/>
          </a:xfrm>
          <a:prstGeom prst="line">
            <a:avLst/>
          </a:prstGeom>
          <a:ln w="28575">
            <a:solidFill>
              <a:srgbClr val="1E9E6B"/>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flipV="1">
            <a:off x="1463040" y="2834640"/>
            <a:ext cx="914400" cy="1280160"/>
          </a:xfrm>
          <a:prstGeom prst="line">
            <a:avLst/>
          </a:prstGeom>
          <a:ln w="28575">
            <a:solidFill>
              <a:srgbClr val="1E9E6B"/>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463040" y="1554480"/>
            <a:ext cx="1645920" cy="1280160"/>
          </a:xfrm>
          <a:prstGeom prst="line">
            <a:avLst/>
          </a:prstGeom>
          <a:ln w="28575">
            <a:solidFill>
              <a:srgbClr val="1E9E6B"/>
            </a:solidFill>
            <a:prstDash val="dash"/>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813816" y="5111496"/>
            <a:ext cx="201168" cy="201168"/>
          </a:xfrm>
          <a:prstGeom prst="ellipse">
            <a:avLst/>
          </a:prstGeom>
          <a:solidFill>
            <a:srgbClr val="FFFFFF"/>
          </a:solidFill>
          <a:ln w="31750">
            <a:solidFill>
              <a:srgbClr val="1E20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276856" y="4014216"/>
            <a:ext cx="201168" cy="201168"/>
          </a:xfrm>
          <a:prstGeom prst="ellipse">
            <a:avLst/>
          </a:prstGeom>
          <a:solidFill>
            <a:srgbClr val="FFFFFF"/>
          </a:solidFill>
          <a:ln w="31750">
            <a:solidFill>
              <a:srgbClr val="1E9E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62456" y="2734056"/>
            <a:ext cx="201168" cy="201168"/>
          </a:xfrm>
          <a:prstGeom prst="ellipse">
            <a:avLst/>
          </a:prstGeom>
          <a:solidFill>
            <a:srgbClr val="FFFFFF"/>
          </a:solidFill>
          <a:ln w="31750">
            <a:solidFill>
              <a:srgbClr val="1E9E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008376" y="1453896"/>
            <a:ext cx="201168" cy="201168"/>
          </a:xfrm>
          <a:prstGeom prst="ellipse">
            <a:avLst/>
          </a:prstGeom>
          <a:solidFill>
            <a:srgbClr val="FFFFFF"/>
          </a:solidFill>
          <a:ln w="31750">
            <a:solidFill>
              <a:srgbClr val="1E20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34640" y="868680"/>
            <a:ext cx="548640" cy="292608"/>
          </a:xfrm>
          <a:prstGeom prst="roundRect">
            <a:avLst>
              <a:gd name="adj" fmla="val 30000"/>
            </a:avLst>
          </a:prstGeom>
          <a:solidFill>
            <a:srgbClr val="1E20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916936" y="923544"/>
            <a:ext cx="91440" cy="1280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054096" y="923544"/>
            <a:ext cx="91440" cy="1280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191256" y="923544"/>
            <a:ext cx="91440" cy="1280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907792" y="1110996"/>
            <a:ext cx="100584" cy="100584"/>
          </a:xfrm>
          <a:prstGeom prst="ellipse">
            <a:avLst/>
          </a:prstGeom>
          <a:solidFill>
            <a:srgbClr val="161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209544" y="1110996"/>
            <a:ext cx="100584" cy="100584"/>
          </a:xfrm>
          <a:prstGeom prst="ellipse">
            <a:avLst/>
          </a:prstGeom>
          <a:solidFill>
            <a:srgbClr val="161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37760" y="1417320"/>
            <a:ext cx="6613855" cy="1737360"/>
          </a:xfrm>
          <a:prstGeom prst="rect">
            <a:avLst/>
          </a:prstGeom>
          <a:noFill/>
        </p:spPr>
        <p:txBody>
          <a:bodyPr wrap="square" anchor="t" lIns="0" rIns="0" tIns="0" bIns="0">
            <a:spAutoFit/>
          </a:bodyPr>
          <a:lstStyle/>
          <a:p>
            <a:pPr algn="l">
              <a:lnSpc>
                <a:spcPct val="103000"/>
              </a:lnSpc>
            </a:pPr>
            <a:r>
              <a:rPr sz="4000" b="1" i="0">
                <a:solidFill>
                  <a:srgbClr val="16171A"/>
                </a:solidFill>
                <a:latin typeface="Segoe UI Semibold"/>
              </a:rPr>
              <a:t>Bus Bunching Control System</a:t>
            </a:r>
          </a:p>
        </p:txBody>
      </p:sp>
      <p:sp>
        <p:nvSpPr>
          <p:cNvPr id="17" name="TextBox 16"/>
          <p:cNvSpPr txBox="1"/>
          <p:nvPr/>
        </p:nvSpPr>
        <p:spPr>
          <a:xfrm>
            <a:off x="4937760" y="2697480"/>
            <a:ext cx="6613855" cy="548640"/>
          </a:xfrm>
          <a:prstGeom prst="rect">
            <a:avLst/>
          </a:prstGeom>
          <a:noFill/>
        </p:spPr>
        <p:txBody>
          <a:bodyPr wrap="square" anchor="t" lIns="0" rIns="0" tIns="0" bIns="0">
            <a:spAutoFit/>
          </a:bodyPr>
          <a:lstStyle/>
          <a:p>
            <a:pPr algn="l">
              <a:lnSpc>
                <a:spcPct val="115000"/>
              </a:lnSpc>
            </a:pPr>
            <a:r>
              <a:rPr sz="1500" b="1" i="0">
                <a:solidFill>
                  <a:srgbClr val="5B5F66"/>
                </a:solidFill>
                <a:latin typeface="Segoe UI"/>
              </a:rPr>
              <a:t>Real-Time Bus Tracking, Route Diversion, and Anti-Bunching Dashboard</a:t>
            </a:r>
          </a:p>
        </p:txBody>
      </p:sp>
      <p:sp>
        <p:nvSpPr>
          <p:cNvPr id="18" name="TextBox 17"/>
          <p:cNvSpPr txBox="1"/>
          <p:nvPr/>
        </p:nvSpPr>
        <p:spPr>
          <a:xfrm>
            <a:off x="4937760" y="3246120"/>
            <a:ext cx="6613855" cy="365760"/>
          </a:xfrm>
          <a:prstGeom prst="rect">
            <a:avLst/>
          </a:prstGeom>
          <a:noFill/>
        </p:spPr>
        <p:txBody>
          <a:bodyPr wrap="square" anchor="t" lIns="0" rIns="0" tIns="0" bIns="0">
            <a:spAutoFit/>
          </a:bodyPr>
          <a:lstStyle/>
          <a:p>
            <a:pPr algn="l">
              <a:lnSpc>
                <a:spcPct val="100000"/>
              </a:lnSpc>
            </a:pPr>
            <a:r>
              <a:rPr sz="1300" b="0" i="1">
                <a:solidFill>
                  <a:srgbClr val="5B5F66"/>
                </a:solidFill>
                <a:latin typeface="Segoe UI"/>
              </a:rPr>
              <a:t>Under the Guidance of Dr. Anand S. Krishna</a:t>
            </a:r>
          </a:p>
        </p:txBody>
      </p:sp>
      <p:sp>
        <p:nvSpPr>
          <p:cNvPr id="19" name="TextBox 18"/>
          <p:cNvSpPr txBox="1"/>
          <p:nvPr/>
        </p:nvSpPr>
        <p:spPr>
          <a:xfrm>
            <a:off x="4937760" y="3794760"/>
            <a:ext cx="6613855" cy="1645920"/>
          </a:xfrm>
          <a:prstGeom prst="rect">
            <a:avLst/>
          </a:prstGeom>
          <a:noFill/>
        </p:spPr>
        <p:txBody>
          <a:bodyPr wrap="square" lIns="0" rIns="0" tIns="0" bIns="0">
            <a:spAutoFit/>
          </a:bodyPr>
          <a:lstStyle/>
          <a:p>
            <a:pPr>
              <a:lnSpc>
                <a:spcPct val="112000"/>
              </a:lnSpc>
              <a:spcAft>
                <a:spcPts val="600"/>
              </a:spcAft>
            </a:pPr>
            <a:r>
              <a:rPr sz="1300" b="0" i="0">
                <a:solidFill>
                  <a:srgbClr val="1E9E6B"/>
                </a:solidFill>
                <a:latin typeface="Segoe UI"/>
              </a:rPr>
              <a:t>•  </a:t>
            </a:r>
            <a:r>
              <a:rPr sz="1300" b="0" i="0">
                <a:solidFill>
                  <a:srgbClr val="16171A"/>
                </a:solidFill>
                <a:latin typeface="Segoe UI"/>
              </a:rPr>
              <a:t>Deepti V Ligammanavar</a:t>
            </a:r>
          </a:p>
          <a:p>
            <a:pPr>
              <a:lnSpc>
                <a:spcPct val="112000"/>
              </a:lnSpc>
              <a:spcAft>
                <a:spcPts val="600"/>
              </a:spcAft>
            </a:pPr>
            <a:r>
              <a:rPr sz="1300" b="0" i="0">
                <a:solidFill>
                  <a:srgbClr val="1E9E6B"/>
                </a:solidFill>
                <a:latin typeface="Segoe UI"/>
              </a:rPr>
              <a:t>•  </a:t>
            </a:r>
            <a:r>
              <a:rPr sz="1300" b="0" i="0">
                <a:solidFill>
                  <a:srgbClr val="16171A"/>
                </a:solidFill>
                <a:latin typeface="Segoe UI"/>
              </a:rPr>
              <a:t>Gowda H L K</a:t>
            </a:r>
          </a:p>
          <a:p>
            <a:pPr>
              <a:lnSpc>
                <a:spcPct val="112000"/>
              </a:lnSpc>
              <a:spcAft>
                <a:spcPts val="600"/>
              </a:spcAft>
            </a:pPr>
            <a:r>
              <a:rPr sz="1300" b="0" i="0">
                <a:solidFill>
                  <a:srgbClr val="1E9E6B"/>
                </a:solidFill>
                <a:latin typeface="Segoe UI"/>
              </a:rPr>
              <a:t>•  </a:t>
            </a:r>
            <a:r>
              <a:rPr sz="1300" b="0" i="0">
                <a:solidFill>
                  <a:srgbClr val="16171A"/>
                </a:solidFill>
                <a:latin typeface="Segoe UI"/>
              </a:rPr>
              <a:t>Khalandar S</a:t>
            </a:r>
          </a:p>
          <a:p>
            <a:pPr>
              <a:lnSpc>
                <a:spcPct val="112000"/>
              </a:lnSpc>
              <a:spcAft>
                <a:spcPts val="600"/>
              </a:spcAft>
            </a:pPr>
            <a:r>
              <a:rPr sz="1300" b="0" i="0">
                <a:solidFill>
                  <a:srgbClr val="1E9E6B"/>
                </a:solidFill>
                <a:latin typeface="Segoe UI"/>
              </a:rPr>
              <a:t>•  </a:t>
            </a:r>
            <a:r>
              <a:rPr sz="1300" b="0" i="0">
                <a:solidFill>
                  <a:srgbClr val="16171A"/>
                </a:solidFill>
                <a:latin typeface="Segoe UI"/>
              </a:rPr>
              <a:t>Roushni Zynab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640080" cy="320040"/>
          </a:xfrm>
          <a:prstGeom prst="rect">
            <a:avLst/>
          </a:prstGeom>
          <a:noFill/>
        </p:spPr>
        <p:txBody>
          <a:bodyPr wrap="square" anchor="t" lIns="0" rIns="0" tIns="0" bIns="0">
            <a:spAutoFit/>
          </a:bodyPr>
          <a:lstStyle/>
          <a:p>
            <a:pPr algn="r">
              <a:lnSpc>
                <a:spcPct val="100000"/>
              </a:lnSpc>
            </a:pPr>
            <a:r>
              <a:rPr sz="1000" b="0" i="0">
                <a:solidFill>
                  <a:srgbClr val="9A9DA1"/>
                </a:solidFill>
                <a:latin typeface="Segoe UI"/>
              </a:rPr>
              <a:t>2</a:t>
            </a:r>
          </a:p>
        </p:txBody>
      </p:sp>
      <p:sp>
        <p:nvSpPr>
          <p:cNvPr id="3" name="TextBox 2"/>
          <p:cNvSpPr txBox="1"/>
          <p:nvPr/>
        </p:nvSpPr>
        <p:spPr>
          <a:xfrm>
            <a:off x="685800" y="457200"/>
            <a:ext cx="10789920" cy="822960"/>
          </a:xfrm>
          <a:prstGeom prst="rect">
            <a:avLst/>
          </a:prstGeom>
          <a:noFill/>
        </p:spPr>
        <p:txBody>
          <a:bodyPr wrap="square" anchor="t" lIns="0" rIns="0" tIns="0" bIns="0">
            <a:spAutoFit/>
          </a:bodyPr>
          <a:lstStyle/>
          <a:p>
            <a:pPr algn="l">
              <a:lnSpc>
                <a:spcPct val="100000"/>
              </a:lnSpc>
            </a:pPr>
            <a:r>
              <a:rPr sz="3000" b="1" i="0">
                <a:solidFill>
                  <a:srgbClr val="16171A"/>
                </a:solidFill>
                <a:latin typeface="Segoe UI Semibold"/>
              </a:rPr>
              <a:t>Problem Statement</a:t>
            </a:r>
          </a:p>
        </p:txBody>
      </p:sp>
      <p:sp>
        <p:nvSpPr>
          <p:cNvPr id="4" name="Rounded Rectangle 3"/>
          <p:cNvSpPr/>
          <p:nvPr/>
        </p:nvSpPr>
        <p:spPr>
          <a:xfrm>
            <a:off x="685800" y="1828800"/>
            <a:ext cx="10820095" cy="1737360"/>
          </a:xfrm>
          <a:prstGeom prst="roundRect">
            <a:avLst>
              <a:gd name="adj" fmla="val 4000"/>
            </a:avLst>
          </a:prstGeom>
          <a:solidFill>
            <a:srgbClr val="FFFFFF"/>
          </a:solidFill>
          <a:ln w="12700">
            <a:solidFill>
              <a:srgbClr val="DA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828800"/>
            <a:ext cx="54864" cy="1737360"/>
          </a:xfrm>
          <a:prstGeom prst="rect">
            <a:avLst/>
          </a:prstGeom>
          <a:solidFill>
            <a:srgbClr val="1E20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03120"/>
            <a:ext cx="10088575" cy="1280160"/>
          </a:xfrm>
          <a:prstGeom prst="rect">
            <a:avLst/>
          </a:prstGeom>
          <a:noFill/>
        </p:spPr>
        <p:txBody>
          <a:bodyPr wrap="square" anchor="t" lIns="0" rIns="0" tIns="0" bIns="0">
            <a:spAutoFit/>
          </a:bodyPr>
          <a:lstStyle/>
          <a:p>
            <a:pPr algn="l">
              <a:lnSpc>
                <a:spcPct val="130000"/>
              </a:lnSpc>
            </a:pPr>
            <a:r>
              <a:rPr sz="1600" b="0" i="0">
                <a:solidFill>
                  <a:srgbClr val="5B5F66"/>
                </a:solidFill>
                <a:latin typeface="Segoe UI"/>
              </a:rPr>
              <a:t>Bus bunching causes multiple buses to arrive together, leading to uneven service and long waiting times for passengers. Manual tracking makes it hard to monitor buses in real time and respond quickly. Current systems also lack proper rerouting to handle traffic or disruptions.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640080" cy="320040"/>
          </a:xfrm>
          <a:prstGeom prst="rect">
            <a:avLst/>
          </a:prstGeom>
          <a:noFill/>
        </p:spPr>
        <p:txBody>
          <a:bodyPr wrap="square" anchor="t" lIns="0" rIns="0" tIns="0" bIns="0">
            <a:spAutoFit/>
          </a:bodyPr>
          <a:lstStyle/>
          <a:p>
            <a:pPr algn="r">
              <a:lnSpc>
                <a:spcPct val="100000"/>
              </a:lnSpc>
            </a:pPr>
            <a:r>
              <a:rPr sz="1000" b="0" i="0">
                <a:solidFill>
                  <a:srgbClr val="9A9DA1"/>
                </a:solidFill>
                <a:latin typeface="Segoe UI"/>
              </a:rPr>
              <a:t>3</a:t>
            </a:r>
          </a:p>
        </p:txBody>
      </p:sp>
      <p:sp>
        <p:nvSpPr>
          <p:cNvPr id="3" name="TextBox 2"/>
          <p:cNvSpPr txBox="1"/>
          <p:nvPr/>
        </p:nvSpPr>
        <p:spPr>
          <a:xfrm>
            <a:off x="685800" y="457200"/>
            <a:ext cx="10789920" cy="822960"/>
          </a:xfrm>
          <a:prstGeom prst="rect">
            <a:avLst/>
          </a:prstGeom>
          <a:noFill/>
        </p:spPr>
        <p:txBody>
          <a:bodyPr wrap="square" anchor="t" lIns="0" rIns="0" tIns="0" bIns="0">
            <a:spAutoFit/>
          </a:bodyPr>
          <a:lstStyle/>
          <a:p>
            <a:pPr algn="l">
              <a:lnSpc>
                <a:spcPct val="100000"/>
              </a:lnSpc>
            </a:pPr>
            <a:r>
              <a:rPr sz="3000" b="1" i="0">
                <a:solidFill>
                  <a:srgbClr val="16171A"/>
                </a:solidFill>
                <a:latin typeface="Segoe UI Semibold"/>
              </a:rPr>
              <a:t>Objectives</a:t>
            </a:r>
          </a:p>
        </p:txBody>
      </p:sp>
      <p:sp>
        <p:nvSpPr>
          <p:cNvPr id="4" name="TextBox 3"/>
          <p:cNvSpPr txBox="1"/>
          <p:nvPr/>
        </p:nvSpPr>
        <p:spPr>
          <a:xfrm>
            <a:off x="685800" y="1234440"/>
            <a:ext cx="8229600" cy="365760"/>
          </a:xfrm>
          <a:prstGeom prst="rect">
            <a:avLst/>
          </a:prstGeom>
          <a:noFill/>
        </p:spPr>
        <p:txBody>
          <a:bodyPr wrap="square" anchor="t" lIns="0" rIns="0" tIns="0" bIns="0">
            <a:spAutoFit/>
          </a:bodyPr>
          <a:lstStyle/>
          <a:p>
            <a:pPr algn="l">
              <a:lnSpc>
                <a:spcPct val="100000"/>
              </a:lnSpc>
            </a:pPr>
            <a:r>
              <a:rPr sz="1300" b="0" i="0">
                <a:solidFill>
                  <a:srgbClr val="5B5F66"/>
                </a:solidFill>
                <a:latin typeface="Segoe UI"/>
              </a:rPr>
              <a:t>Four core goals guide this system's design</a:t>
            </a:r>
          </a:p>
        </p:txBody>
      </p:sp>
      <p:sp>
        <p:nvSpPr>
          <p:cNvPr id="5" name="TextBox 4"/>
          <p:cNvSpPr txBox="1"/>
          <p:nvPr/>
        </p:nvSpPr>
        <p:spPr>
          <a:xfrm>
            <a:off x="685800" y="1965960"/>
            <a:ext cx="5074920" cy="274320"/>
          </a:xfrm>
          <a:prstGeom prst="rect">
            <a:avLst/>
          </a:prstGeom>
          <a:noFill/>
        </p:spPr>
        <p:txBody>
          <a:bodyPr wrap="square" anchor="t" lIns="0" rIns="0" tIns="0" bIns="0">
            <a:spAutoFit/>
          </a:bodyPr>
          <a:lstStyle/>
          <a:p>
            <a:pPr algn="l">
              <a:lnSpc>
                <a:spcPct val="100000"/>
              </a:lnSpc>
            </a:pPr>
            <a:r>
              <a:rPr sz="1200" b="0" i="0">
                <a:solidFill>
                  <a:srgbClr val="9A9DA1"/>
                </a:solidFill>
                <a:latin typeface="Segoe UI"/>
              </a:rPr>
              <a:t>01</a:t>
            </a:r>
          </a:p>
        </p:txBody>
      </p:sp>
      <p:cxnSp>
        <p:nvCxnSpPr>
          <p:cNvPr id="6" name="Connector 5"/>
          <p:cNvCxnSpPr/>
          <p:nvPr/>
        </p:nvCxnSpPr>
        <p:spPr>
          <a:xfrm>
            <a:off x="685800" y="2276856"/>
            <a:ext cx="5074920" cy="0"/>
          </a:xfrm>
          <a:prstGeom prst="line">
            <a:avLst/>
          </a:prstGeom>
          <a:ln w="25400">
            <a:solidFill>
              <a:srgbClr val="1E9E6B"/>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2423160"/>
            <a:ext cx="5074920" cy="365760"/>
          </a:xfrm>
          <a:prstGeom prst="rect">
            <a:avLst/>
          </a:prstGeom>
          <a:noFill/>
        </p:spPr>
        <p:txBody>
          <a:bodyPr wrap="square" anchor="t" lIns="0" rIns="0" tIns="0" bIns="0">
            <a:spAutoFit/>
          </a:bodyPr>
          <a:lstStyle/>
          <a:p>
            <a:pPr algn="l">
              <a:lnSpc>
                <a:spcPct val="100000"/>
              </a:lnSpc>
            </a:pPr>
            <a:r>
              <a:rPr sz="1600" b="1" i="0">
                <a:solidFill>
                  <a:srgbClr val="16171A"/>
                </a:solidFill>
                <a:latin typeface="Segoe UI Semibold"/>
              </a:rPr>
              <a:t>Live Map Tracking</a:t>
            </a:r>
          </a:p>
        </p:txBody>
      </p:sp>
      <p:sp>
        <p:nvSpPr>
          <p:cNvPr id="8" name="TextBox 7"/>
          <p:cNvSpPr txBox="1"/>
          <p:nvPr/>
        </p:nvSpPr>
        <p:spPr>
          <a:xfrm>
            <a:off x="685800" y="2834640"/>
            <a:ext cx="5074920" cy="685800"/>
          </a:xfrm>
          <a:prstGeom prst="rect">
            <a:avLst/>
          </a:prstGeom>
          <a:noFill/>
        </p:spPr>
        <p:txBody>
          <a:bodyPr wrap="square" anchor="t" lIns="0" rIns="0" tIns="0" bIns="0">
            <a:spAutoFit/>
          </a:bodyPr>
          <a:lstStyle/>
          <a:p>
            <a:pPr algn="l">
              <a:lnSpc>
                <a:spcPct val="120000"/>
              </a:lnSpc>
            </a:pPr>
            <a:r>
              <a:rPr sz="1250" b="0" i="0">
                <a:solidFill>
                  <a:srgbClr val="5B5F66"/>
                </a:solidFill>
                <a:latin typeface="Segoe UI"/>
              </a:rPr>
              <a:t>Render bus positions in real time on a Leaflet/OpenStreetMap interface.</a:t>
            </a:r>
          </a:p>
        </p:txBody>
      </p:sp>
      <p:sp>
        <p:nvSpPr>
          <p:cNvPr id="9" name="TextBox 8"/>
          <p:cNvSpPr txBox="1"/>
          <p:nvPr/>
        </p:nvSpPr>
        <p:spPr>
          <a:xfrm>
            <a:off x="6309360" y="1965960"/>
            <a:ext cx="5074920" cy="274320"/>
          </a:xfrm>
          <a:prstGeom prst="rect">
            <a:avLst/>
          </a:prstGeom>
          <a:noFill/>
        </p:spPr>
        <p:txBody>
          <a:bodyPr wrap="square" anchor="t" lIns="0" rIns="0" tIns="0" bIns="0">
            <a:spAutoFit/>
          </a:bodyPr>
          <a:lstStyle/>
          <a:p>
            <a:pPr algn="l">
              <a:lnSpc>
                <a:spcPct val="100000"/>
              </a:lnSpc>
            </a:pPr>
            <a:r>
              <a:rPr sz="1200" b="0" i="0">
                <a:solidFill>
                  <a:srgbClr val="9A9DA1"/>
                </a:solidFill>
                <a:latin typeface="Segoe UI"/>
              </a:rPr>
              <a:t>02</a:t>
            </a:r>
          </a:p>
        </p:txBody>
      </p:sp>
      <p:cxnSp>
        <p:nvCxnSpPr>
          <p:cNvPr id="10" name="Connector 9"/>
          <p:cNvCxnSpPr/>
          <p:nvPr/>
        </p:nvCxnSpPr>
        <p:spPr>
          <a:xfrm>
            <a:off x="6309360" y="2276856"/>
            <a:ext cx="5074920" cy="0"/>
          </a:xfrm>
          <a:prstGeom prst="line">
            <a:avLst/>
          </a:prstGeom>
          <a:ln w="25400">
            <a:solidFill>
              <a:srgbClr val="1E9E6B"/>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309360" y="2423160"/>
            <a:ext cx="5074920" cy="365760"/>
          </a:xfrm>
          <a:prstGeom prst="rect">
            <a:avLst/>
          </a:prstGeom>
          <a:noFill/>
        </p:spPr>
        <p:txBody>
          <a:bodyPr wrap="square" anchor="t" lIns="0" rIns="0" tIns="0" bIns="0">
            <a:spAutoFit/>
          </a:bodyPr>
          <a:lstStyle/>
          <a:p>
            <a:pPr algn="l">
              <a:lnSpc>
                <a:spcPct val="100000"/>
              </a:lnSpc>
            </a:pPr>
            <a:r>
              <a:rPr sz="1600" b="1" i="0">
                <a:solidFill>
                  <a:srgbClr val="16171A"/>
                </a:solidFill>
                <a:latin typeface="Segoe UI Semibold"/>
              </a:rPr>
              <a:t>Bunching Detection</a:t>
            </a:r>
          </a:p>
        </p:txBody>
      </p:sp>
      <p:sp>
        <p:nvSpPr>
          <p:cNvPr id="12" name="TextBox 11"/>
          <p:cNvSpPr txBox="1"/>
          <p:nvPr/>
        </p:nvSpPr>
        <p:spPr>
          <a:xfrm>
            <a:off x="6309360" y="2834640"/>
            <a:ext cx="5074920" cy="685800"/>
          </a:xfrm>
          <a:prstGeom prst="rect">
            <a:avLst/>
          </a:prstGeom>
          <a:noFill/>
        </p:spPr>
        <p:txBody>
          <a:bodyPr wrap="square" anchor="t" lIns="0" rIns="0" tIns="0" bIns="0">
            <a:spAutoFit/>
          </a:bodyPr>
          <a:lstStyle/>
          <a:p>
            <a:pPr algn="l">
              <a:lnSpc>
                <a:spcPct val="120000"/>
              </a:lnSpc>
            </a:pPr>
            <a:r>
              <a:rPr sz="1250" b="0" i="0">
                <a:solidFill>
                  <a:srgbClr val="5B5F66"/>
                </a:solidFill>
                <a:latin typeface="Segoe UI"/>
              </a:rPr>
              <a:t>Identify proximity violations and trigger alerts to prevent clustering.</a:t>
            </a:r>
          </a:p>
        </p:txBody>
      </p:sp>
      <p:sp>
        <p:nvSpPr>
          <p:cNvPr id="13" name="TextBox 12"/>
          <p:cNvSpPr txBox="1"/>
          <p:nvPr/>
        </p:nvSpPr>
        <p:spPr>
          <a:xfrm>
            <a:off x="685800" y="3794760"/>
            <a:ext cx="5074920" cy="274320"/>
          </a:xfrm>
          <a:prstGeom prst="rect">
            <a:avLst/>
          </a:prstGeom>
          <a:noFill/>
        </p:spPr>
        <p:txBody>
          <a:bodyPr wrap="square" anchor="t" lIns="0" rIns="0" tIns="0" bIns="0">
            <a:spAutoFit/>
          </a:bodyPr>
          <a:lstStyle/>
          <a:p>
            <a:pPr algn="l">
              <a:lnSpc>
                <a:spcPct val="100000"/>
              </a:lnSpc>
            </a:pPr>
            <a:r>
              <a:rPr sz="1200" b="0" i="0">
                <a:solidFill>
                  <a:srgbClr val="9A9DA1"/>
                </a:solidFill>
                <a:latin typeface="Segoe UI"/>
              </a:rPr>
              <a:t>03</a:t>
            </a:r>
          </a:p>
        </p:txBody>
      </p:sp>
      <p:cxnSp>
        <p:nvCxnSpPr>
          <p:cNvPr id="14" name="Connector 13"/>
          <p:cNvCxnSpPr/>
          <p:nvPr/>
        </p:nvCxnSpPr>
        <p:spPr>
          <a:xfrm>
            <a:off x="685800" y="4105656"/>
            <a:ext cx="5074920" cy="0"/>
          </a:xfrm>
          <a:prstGeom prst="line">
            <a:avLst/>
          </a:prstGeom>
          <a:ln w="25400">
            <a:solidFill>
              <a:srgbClr val="1E9E6B"/>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4251960"/>
            <a:ext cx="5074920" cy="365760"/>
          </a:xfrm>
          <a:prstGeom prst="rect">
            <a:avLst/>
          </a:prstGeom>
          <a:noFill/>
        </p:spPr>
        <p:txBody>
          <a:bodyPr wrap="square" anchor="t" lIns="0" rIns="0" tIns="0" bIns="0">
            <a:spAutoFit/>
          </a:bodyPr>
          <a:lstStyle/>
          <a:p>
            <a:pPr algn="l">
              <a:lnSpc>
                <a:spcPct val="100000"/>
              </a:lnSpc>
            </a:pPr>
            <a:r>
              <a:rPr sz="1600" b="1" i="0">
                <a:solidFill>
                  <a:srgbClr val="16171A"/>
                </a:solidFill>
                <a:latin typeface="Segoe UI Semibold"/>
              </a:rPr>
              <a:t>Multi-Route Diversion</a:t>
            </a:r>
          </a:p>
        </p:txBody>
      </p:sp>
      <p:sp>
        <p:nvSpPr>
          <p:cNvPr id="16" name="TextBox 15"/>
          <p:cNvSpPr txBox="1"/>
          <p:nvPr/>
        </p:nvSpPr>
        <p:spPr>
          <a:xfrm>
            <a:off x="685800" y="4663440"/>
            <a:ext cx="5074920" cy="685800"/>
          </a:xfrm>
          <a:prstGeom prst="rect">
            <a:avLst/>
          </a:prstGeom>
          <a:noFill/>
        </p:spPr>
        <p:txBody>
          <a:bodyPr wrap="square" anchor="t" lIns="0" rIns="0" tIns="0" bIns="0">
            <a:spAutoFit/>
          </a:bodyPr>
          <a:lstStyle/>
          <a:p>
            <a:pPr algn="l">
              <a:lnSpc>
                <a:spcPct val="120000"/>
              </a:lnSpc>
            </a:pPr>
            <a:r>
              <a:rPr sz="1250" b="0" i="0">
                <a:solidFill>
                  <a:srgbClr val="5B5F66"/>
                </a:solidFill>
                <a:latin typeface="Segoe UI"/>
              </a:rPr>
              <a:t>Present multiple alternative paths to the same destination during disruptions.</a:t>
            </a:r>
          </a:p>
        </p:txBody>
      </p:sp>
      <p:sp>
        <p:nvSpPr>
          <p:cNvPr id="17" name="TextBox 16"/>
          <p:cNvSpPr txBox="1"/>
          <p:nvPr/>
        </p:nvSpPr>
        <p:spPr>
          <a:xfrm>
            <a:off x="6309360" y="3794760"/>
            <a:ext cx="5074920" cy="274320"/>
          </a:xfrm>
          <a:prstGeom prst="rect">
            <a:avLst/>
          </a:prstGeom>
          <a:noFill/>
        </p:spPr>
        <p:txBody>
          <a:bodyPr wrap="square" anchor="t" lIns="0" rIns="0" tIns="0" bIns="0">
            <a:spAutoFit/>
          </a:bodyPr>
          <a:lstStyle/>
          <a:p>
            <a:pPr algn="l">
              <a:lnSpc>
                <a:spcPct val="100000"/>
              </a:lnSpc>
            </a:pPr>
            <a:r>
              <a:rPr sz="1200" b="0" i="0">
                <a:solidFill>
                  <a:srgbClr val="9A9DA1"/>
                </a:solidFill>
                <a:latin typeface="Segoe UI"/>
              </a:rPr>
              <a:t>04</a:t>
            </a:r>
          </a:p>
        </p:txBody>
      </p:sp>
      <p:cxnSp>
        <p:nvCxnSpPr>
          <p:cNvPr id="18" name="Connector 17"/>
          <p:cNvCxnSpPr/>
          <p:nvPr/>
        </p:nvCxnSpPr>
        <p:spPr>
          <a:xfrm>
            <a:off x="6309360" y="4105656"/>
            <a:ext cx="5074920" cy="0"/>
          </a:xfrm>
          <a:prstGeom prst="line">
            <a:avLst/>
          </a:prstGeom>
          <a:ln w="25400">
            <a:solidFill>
              <a:srgbClr val="1E9E6B"/>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09360" y="4251960"/>
            <a:ext cx="5074920" cy="365760"/>
          </a:xfrm>
          <a:prstGeom prst="rect">
            <a:avLst/>
          </a:prstGeom>
          <a:noFill/>
        </p:spPr>
        <p:txBody>
          <a:bodyPr wrap="square" anchor="t" lIns="0" rIns="0" tIns="0" bIns="0">
            <a:spAutoFit/>
          </a:bodyPr>
          <a:lstStyle/>
          <a:p>
            <a:pPr algn="l">
              <a:lnSpc>
                <a:spcPct val="100000"/>
              </a:lnSpc>
            </a:pPr>
            <a:r>
              <a:rPr sz="1600" b="1" i="0">
                <a:solidFill>
                  <a:srgbClr val="16171A"/>
                </a:solidFill>
                <a:latin typeface="Segoe UI Semibold"/>
              </a:rPr>
              <a:t>Admin Dashboard</a:t>
            </a:r>
          </a:p>
        </p:txBody>
      </p:sp>
      <p:sp>
        <p:nvSpPr>
          <p:cNvPr id="20" name="TextBox 19"/>
          <p:cNvSpPr txBox="1"/>
          <p:nvPr/>
        </p:nvSpPr>
        <p:spPr>
          <a:xfrm>
            <a:off x="6309360" y="4663440"/>
            <a:ext cx="5074920" cy="685800"/>
          </a:xfrm>
          <a:prstGeom prst="rect">
            <a:avLst/>
          </a:prstGeom>
          <a:noFill/>
        </p:spPr>
        <p:txBody>
          <a:bodyPr wrap="square" anchor="t" lIns="0" rIns="0" tIns="0" bIns="0">
            <a:spAutoFit/>
          </a:bodyPr>
          <a:lstStyle/>
          <a:p>
            <a:pPr algn="l">
              <a:lnSpc>
                <a:spcPct val="120000"/>
              </a:lnSpc>
            </a:pPr>
            <a:r>
              <a:rPr sz="1250" b="0" i="0">
                <a:solidFill>
                  <a:srgbClr val="5B5F66"/>
                </a:solidFill>
                <a:latin typeface="Segoe UI"/>
              </a:rPr>
              <a:t>Enable live operator controls — divert, stop, resume, and route selection.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640080" cy="320040"/>
          </a:xfrm>
          <a:prstGeom prst="rect">
            <a:avLst/>
          </a:prstGeom>
          <a:noFill/>
        </p:spPr>
        <p:txBody>
          <a:bodyPr wrap="square" anchor="t" lIns="0" rIns="0" tIns="0" bIns="0">
            <a:spAutoFit/>
          </a:bodyPr>
          <a:lstStyle/>
          <a:p>
            <a:pPr algn="r">
              <a:lnSpc>
                <a:spcPct val="100000"/>
              </a:lnSpc>
            </a:pPr>
            <a:r>
              <a:rPr sz="1000" b="0" i="0">
                <a:solidFill>
                  <a:srgbClr val="9A9DA1"/>
                </a:solidFill>
                <a:latin typeface="Segoe UI"/>
              </a:rPr>
              <a:t>4</a:t>
            </a:r>
          </a:p>
        </p:txBody>
      </p:sp>
      <p:sp>
        <p:nvSpPr>
          <p:cNvPr id="3" name="TextBox 2"/>
          <p:cNvSpPr txBox="1"/>
          <p:nvPr/>
        </p:nvSpPr>
        <p:spPr>
          <a:xfrm>
            <a:off x="685800" y="457200"/>
            <a:ext cx="10789920" cy="822960"/>
          </a:xfrm>
          <a:prstGeom prst="rect">
            <a:avLst/>
          </a:prstGeom>
          <a:noFill/>
        </p:spPr>
        <p:txBody>
          <a:bodyPr wrap="square" anchor="t" lIns="0" rIns="0" tIns="0" bIns="0">
            <a:spAutoFit/>
          </a:bodyPr>
          <a:lstStyle/>
          <a:p>
            <a:pPr algn="l">
              <a:lnSpc>
                <a:spcPct val="100000"/>
              </a:lnSpc>
            </a:pPr>
            <a:r>
              <a:rPr sz="3000" b="1" i="0">
                <a:solidFill>
                  <a:srgbClr val="16171A"/>
                </a:solidFill>
                <a:latin typeface="Segoe UI Semibold"/>
              </a:rPr>
              <a:t>Existing System vs. Proposed System</a:t>
            </a:r>
          </a:p>
        </p:txBody>
      </p:sp>
      <p:sp>
        <p:nvSpPr>
          <p:cNvPr id="4" name="Rounded Rectangle 3"/>
          <p:cNvSpPr/>
          <p:nvPr/>
        </p:nvSpPr>
        <p:spPr>
          <a:xfrm>
            <a:off x="685800" y="1737360"/>
            <a:ext cx="5120640" cy="3840480"/>
          </a:xfrm>
          <a:prstGeom prst="roundRect">
            <a:avLst>
              <a:gd name="adj" fmla="val 3500"/>
            </a:avLst>
          </a:prstGeom>
          <a:solidFill>
            <a:srgbClr val="1E20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011680"/>
            <a:ext cx="4480560" cy="457200"/>
          </a:xfrm>
          <a:prstGeom prst="rect">
            <a:avLst/>
          </a:prstGeom>
          <a:noFill/>
        </p:spPr>
        <p:txBody>
          <a:bodyPr wrap="square" anchor="t" lIns="0" rIns="0" tIns="0" bIns="0">
            <a:spAutoFit/>
          </a:bodyPr>
          <a:lstStyle/>
          <a:p>
            <a:pPr algn="l">
              <a:lnSpc>
                <a:spcPct val="100000"/>
              </a:lnSpc>
            </a:pPr>
            <a:r>
              <a:rPr sz="1800" b="1" i="0">
                <a:solidFill>
                  <a:srgbClr val="FFFFFF"/>
                </a:solidFill>
                <a:latin typeface="Segoe UI Semibold"/>
              </a:rPr>
              <a:t>Existing System</a:t>
            </a:r>
          </a:p>
        </p:txBody>
      </p:sp>
      <p:sp>
        <p:nvSpPr>
          <p:cNvPr id="6" name="TextBox 5"/>
          <p:cNvSpPr txBox="1"/>
          <p:nvPr/>
        </p:nvSpPr>
        <p:spPr>
          <a:xfrm>
            <a:off x="1005840" y="2606040"/>
            <a:ext cx="4480560" cy="2743200"/>
          </a:xfrm>
          <a:prstGeom prst="rect">
            <a:avLst/>
          </a:prstGeom>
          <a:noFill/>
        </p:spPr>
        <p:txBody>
          <a:bodyPr wrap="square" lIns="0" rIns="0" tIns="0" bIns="0">
            <a:spAutoFit/>
          </a:bodyPr>
          <a:lstStyle/>
          <a:p>
            <a:pPr>
              <a:lnSpc>
                <a:spcPct val="112000"/>
              </a:lnSpc>
              <a:spcAft>
                <a:spcPts val="1200"/>
              </a:spcAft>
            </a:pPr>
            <a:r>
              <a:rPr sz="1350" b="0" i="0">
                <a:solidFill>
                  <a:srgbClr val="9A9DA6"/>
                </a:solidFill>
                <a:latin typeface="Segoe UI"/>
              </a:rPr>
              <a:t>•  </a:t>
            </a:r>
            <a:r>
              <a:rPr sz="1350" b="0" i="0">
                <a:solidFill>
                  <a:srgbClr val="FFFFFF"/>
                </a:solidFill>
                <a:latin typeface="Segoe UI"/>
              </a:rPr>
              <a:t>Passive GPS tracking with no live decision support</a:t>
            </a:r>
          </a:p>
          <a:p>
            <a:pPr>
              <a:lnSpc>
                <a:spcPct val="112000"/>
              </a:lnSpc>
              <a:spcAft>
                <a:spcPts val="1200"/>
              </a:spcAft>
            </a:pPr>
            <a:r>
              <a:rPr sz="1350" b="0" i="0">
                <a:solidFill>
                  <a:srgbClr val="9A9DA6"/>
                </a:solidFill>
                <a:latin typeface="Segoe UI"/>
              </a:rPr>
              <a:t>•  </a:t>
            </a:r>
            <a:r>
              <a:rPr sz="1350" b="0" i="0">
                <a:solidFill>
                  <a:srgbClr val="FFFFFF"/>
                </a:solidFill>
                <a:latin typeface="Segoe UI"/>
              </a:rPr>
              <a:t>No visual route diversion or alternative path display</a:t>
            </a:r>
          </a:p>
          <a:p>
            <a:pPr>
              <a:lnSpc>
                <a:spcPct val="112000"/>
              </a:lnSpc>
              <a:spcAft>
                <a:spcPts val="1200"/>
              </a:spcAft>
            </a:pPr>
            <a:r>
              <a:rPr sz="1350" b="0" i="0">
                <a:solidFill>
                  <a:srgbClr val="9A9DA6"/>
                </a:solidFill>
                <a:latin typeface="Segoe UI"/>
              </a:rPr>
              <a:t>•  </a:t>
            </a:r>
            <a:r>
              <a:rPr sz="1350" b="0" i="0">
                <a:solidFill>
                  <a:srgbClr val="FFFFFF"/>
                </a:solidFill>
                <a:latin typeface="Segoe UI"/>
              </a:rPr>
              <a:t>Weak bunching detection and alert mechanisms</a:t>
            </a:r>
          </a:p>
          <a:p>
            <a:pPr>
              <a:lnSpc>
                <a:spcPct val="112000"/>
              </a:lnSpc>
              <a:spcAft>
                <a:spcPts val="1200"/>
              </a:spcAft>
            </a:pPr>
            <a:r>
              <a:rPr sz="1350" b="0" i="0">
                <a:solidFill>
                  <a:srgbClr val="9A9DA6"/>
                </a:solidFill>
                <a:latin typeface="Segoe UI"/>
              </a:rPr>
              <a:t>•  </a:t>
            </a:r>
            <a:r>
              <a:rPr sz="1350" b="0" i="0">
                <a:solidFill>
                  <a:srgbClr val="FFFFFF"/>
                </a:solidFill>
                <a:latin typeface="Segoe UI"/>
              </a:rPr>
              <a:t>Manual, delayed response to route disruptions</a:t>
            </a:r>
          </a:p>
        </p:txBody>
      </p:sp>
      <p:sp>
        <p:nvSpPr>
          <p:cNvPr id="7" name="TextBox 6"/>
          <p:cNvSpPr txBox="1"/>
          <p:nvPr/>
        </p:nvSpPr>
        <p:spPr>
          <a:xfrm>
            <a:off x="6263640" y="2011680"/>
            <a:ext cx="4754880" cy="457200"/>
          </a:xfrm>
          <a:prstGeom prst="rect">
            <a:avLst/>
          </a:prstGeom>
          <a:noFill/>
        </p:spPr>
        <p:txBody>
          <a:bodyPr wrap="square" anchor="t" lIns="0" rIns="0" tIns="0" bIns="0">
            <a:spAutoFit/>
          </a:bodyPr>
          <a:lstStyle/>
          <a:p>
            <a:pPr algn="l">
              <a:lnSpc>
                <a:spcPct val="100000"/>
              </a:lnSpc>
            </a:pPr>
            <a:r>
              <a:rPr sz="1800" b="1" i="0">
                <a:solidFill>
                  <a:srgbClr val="16171A"/>
                </a:solidFill>
                <a:latin typeface="Segoe UI Semibold"/>
              </a:rPr>
              <a:t>Proposed System</a:t>
            </a:r>
          </a:p>
        </p:txBody>
      </p:sp>
      <p:cxnSp>
        <p:nvCxnSpPr>
          <p:cNvPr id="8" name="Connector 7"/>
          <p:cNvCxnSpPr/>
          <p:nvPr/>
        </p:nvCxnSpPr>
        <p:spPr>
          <a:xfrm>
            <a:off x="6263640" y="2514600"/>
            <a:ext cx="1280160" cy="0"/>
          </a:xfrm>
          <a:prstGeom prst="line">
            <a:avLst/>
          </a:prstGeom>
          <a:ln w="31750">
            <a:solidFill>
              <a:srgbClr val="1E9E6B"/>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263640" y="2697480"/>
            <a:ext cx="4754880" cy="2743200"/>
          </a:xfrm>
          <a:prstGeom prst="rect">
            <a:avLst/>
          </a:prstGeom>
          <a:noFill/>
        </p:spPr>
        <p:txBody>
          <a:bodyPr wrap="square" lIns="0" rIns="0" tIns="0" bIns="0">
            <a:spAutoFit/>
          </a:bodyPr>
          <a:lstStyle/>
          <a:p>
            <a:pPr>
              <a:lnSpc>
                <a:spcPct val="112000"/>
              </a:lnSpc>
              <a:spcAft>
                <a:spcPts val="1200"/>
              </a:spcAft>
            </a:pPr>
            <a:r>
              <a:rPr sz="1350" b="0" i="0">
                <a:solidFill>
                  <a:srgbClr val="1E9E6B"/>
                </a:solidFill>
                <a:latin typeface="Segoe UI"/>
              </a:rPr>
              <a:t>•  </a:t>
            </a:r>
            <a:r>
              <a:rPr sz="1350" b="0" i="0">
                <a:solidFill>
                  <a:srgbClr val="5B5F66"/>
                </a:solidFill>
                <a:latin typeface="Segoe UI"/>
              </a:rPr>
              <a:t>Real-time WebSocket updates via FastAPI backend</a:t>
            </a:r>
          </a:p>
          <a:p>
            <a:pPr>
              <a:lnSpc>
                <a:spcPct val="112000"/>
              </a:lnSpc>
              <a:spcAft>
                <a:spcPts val="1200"/>
              </a:spcAft>
            </a:pPr>
            <a:r>
              <a:rPr sz="1350" b="0" i="0">
                <a:solidFill>
                  <a:srgbClr val="1E9E6B"/>
                </a:solidFill>
                <a:latin typeface="Segoe UI"/>
              </a:rPr>
              <a:t>•  </a:t>
            </a:r>
            <a:r>
              <a:rPr sz="1350" b="0" i="0">
                <a:solidFill>
                  <a:srgbClr val="5B5F66"/>
                </a:solidFill>
                <a:latin typeface="Segoe UI"/>
              </a:rPr>
              <a:t>React + Leaflet map with live bus positions and route lines</a:t>
            </a:r>
          </a:p>
          <a:p>
            <a:pPr>
              <a:lnSpc>
                <a:spcPct val="112000"/>
              </a:lnSpc>
              <a:spcAft>
                <a:spcPts val="1200"/>
              </a:spcAft>
            </a:pPr>
            <a:r>
              <a:rPr sz="1350" b="0" i="0">
                <a:solidFill>
                  <a:srgbClr val="1E9E6B"/>
                </a:solidFill>
                <a:latin typeface="Segoe UI"/>
              </a:rPr>
              <a:t>•  </a:t>
            </a:r>
            <a:r>
              <a:rPr sz="1350" b="0" i="0">
                <a:solidFill>
                  <a:srgbClr val="5B5F66"/>
                </a:solidFill>
                <a:latin typeface="Segoe UI"/>
              </a:rPr>
              <a:t>Admin-driven diversion with multiple alternative routes</a:t>
            </a:r>
          </a:p>
          <a:p>
            <a:pPr>
              <a:lnSpc>
                <a:spcPct val="112000"/>
              </a:lnSpc>
              <a:spcAft>
                <a:spcPts val="1200"/>
              </a:spcAft>
            </a:pPr>
            <a:r>
              <a:rPr sz="1350" b="0" i="0">
                <a:solidFill>
                  <a:srgbClr val="1E9E6B"/>
                </a:solidFill>
                <a:latin typeface="Segoe UI"/>
              </a:rPr>
              <a:t>•  </a:t>
            </a:r>
            <a:r>
              <a:rPr sz="1350" b="0" i="0">
                <a:solidFill>
                  <a:srgbClr val="5B5F66"/>
                </a:solidFill>
                <a:latin typeface="Segoe UI"/>
              </a:rPr>
              <a:t>Automated proximity alerts and live activity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640080" cy="320040"/>
          </a:xfrm>
          <a:prstGeom prst="rect">
            <a:avLst/>
          </a:prstGeom>
          <a:noFill/>
        </p:spPr>
        <p:txBody>
          <a:bodyPr wrap="square" anchor="t" lIns="0" rIns="0" tIns="0" bIns="0">
            <a:spAutoFit/>
          </a:bodyPr>
          <a:lstStyle/>
          <a:p>
            <a:pPr algn="r">
              <a:lnSpc>
                <a:spcPct val="100000"/>
              </a:lnSpc>
            </a:pPr>
            <a:r>
              <a:rPr sz="1000" b="0" i="0">
                <a:solidFill>
                  <a:srgbClr val="9A9DA1"/>
                </a:solidFill>
                <a:latin typeface="Segoe UI"/>
              </a:rPr>
              <a:t>5</a:t>
            </a:r>
          </a:p>
        </p:txBody>
      </p:sp>
      <p:sp>
        <p:nvSpPr>
          <p:cNvPr id="3" name="TextBox 2"/>
          <p:cNvSpPr txBox="1"/>
          <p:nvPr/>
        </p:nvSpPr>
        <p:spPr>
          <a:xfrm>
            <a:off x="685800" y="457200"/>
            <a:ext cx="10789920" cy="822960"/>
          </a:xfrm>
          <a:prstGeom prst="rect">
            <a:avLst/>
          </a:prstGeom>
          <a:noFill/>
        </p:spPr>
        <p:txBody>
          <a:bodyPr wrap="square" anchor="t" lIns="0" rIns="0" tIns="0" bIns="0">
            <a:spAutoFit/>
          </a:bodyPr>
          <a:lstStyle/>
          <a:p>
            <a:pPr algn="l">
              <a:lnSpc>
                <a:spcPct val="100000"/>
              </a:lnSpc>
            </a:pPr>
            <a:r>
              <a:rPr sz="3000" b="1" i="0">
                <a:solidFill>
                  <a:srgbClr val="16171A"/>
                </a:solidFill>
                <a:latin typeface="Segoe UI Semibold"/>
              </a:rPr>
              <a:t>System Modules</a:t>
            </a:r>
          </a:p>
        </p:txBody>
      </p:sp>
      <p:sp>
        <p:nvSpPr>
          <p:cNvPr id="4" name="Oval 3"/>
          <p:cNvSpPr/>
          <p:nvPr/>
        </p:nvSpPr>
        <p:spPr>
          <a:xfrm>
            <a:off x="685800" y="1691640"/>
            <a:ext cx="566928" cy="566928"/>
          </a:xfrm>
          <a:prstGeom prst="ellipse">
            <a:avLst/>
          </a:prstGeom>
          <a:solidFill>
            <a:srgbClr val="F5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91640"/>
            <a:ext cx="566928" cy="566928"/>
          </a:xfrm>
          <a:prstGeom prst="rect">
            <a:avLst/>
          </a:prstGeom>
          <a:noFill/>
        </p:spPr>
        <p:txBody>
          <a:bodyPr wrap="none" anchor="ctr" lIns="0" rIns="0" tIns="0" bIns="0">
            <a:spAutoFit/>
          </a:bodyPr>
          <a:lstStyle/>
          <a:p>
            <a:pPr algn="ctr"/>
            <a:r>
              <a:rPr sz="1500" b="0" i="0">
                <a:solidFill>
                  <a:srgbClr val="1E2024"/>
                </a:solidFill>
                <a:latin typeface="Segoe UI Symbol"/>
              </a:rPr>
              <a:t>🖥</a:t>
            </a:r>
          </a:p>
        </p:txBody>
      </p:sp>
      <p:sp>
        <p:nvSpPr>
          <p:cNvPr id="6" name="TextBox 5"/>
          <p:cNvSpPr txBox="1"/>
          <p:nvPr/>
        </p:nvSpPr>
        <p:spPr>
          <a:xfrm>
            <a:off x="685800" y="2468880"/>
            <a:ext cx="5074920" cy="365760"/>
          </a:xfrm>
          <a:prstGeom prst="rect">
            <a:avLst/>
          </a:prstGeom>
          <a:noFill/>
        </p:spPr>
        <p:txBody>
          <a:bodyPr wrap="square" anchor="t" lIns="0" rIns="0" tIns="0" bIns="0">
            <a:spAutoFit/>
          </a:bodyPr>
          <a:lstStyle/>
          <a:p>
            <a:pPr algn="l">
              <a:lnSpc>
                <a:spcPct val="100000"/>
              </a:lnSpc>
            </a:pPr>
            <a:r>
              <a:rPr sz="1600" b="1" i="0">
                <a:solidFill>
                  <a:srgbClr val="16171A"/>
                </a:solidFill>
                <a:latin typeface="Segoe UI Semibold"/>
              </a:rPr>
              <a:t>Backend Simulation</a:t>
            </a:r>
          </a:p>
        </p:txBody>
      </p:sp>
      <p:sp>
        <p:nvSpPr>
          <p:cNvPr id="7" name="TextBox 6"/>
          <p:cNvSpPr txBox="1"/>
          <p:nvPr/>
        </p:nvSpPr>
        <p:spPr>
          <a:xfrm>
            <a:off x="685800" y="2862072"/>
            <a:ext cx="5074920" cy="521208"/>
          </a:xfrm>
          <a:prstGeom prst="rect">
            <a:avLst/>
          </a:prstGeom>
          <a:noFill/>
        </p:spPr>
        <p:txBody>
          <a:bodyPr wrap="square" anchor="t" lIns="0" rIns="0" tIns="0" bIns="0">
            <a:spAutoFit/>
          </a:bodyPr>
          <a:lstStyle/>
          <a:p>
            <a:pPr algn="l">
              <a:lnSpc>
                <a:spcPct val="120000"/>
              </a:lnSpc>
            </a:pPr>
            <a:r>
              <a:rPr sz="1250" b="0" i="0">
                <a:solidFill>
                  <a:srgbClr val="5B5F66"/>
                </a:solidFill>
                <a:latin typeface="Segoe UI"/>
              </a:rPr>
              <a:t>Generates live bus location and speed data for the Tumkur–Bangalore route.</a:t>
            </a:r>
          </a:p>
        </p:txBody>
      </p:sp>
      <p:sp>
        <p:nvSpPr>
          <p:cNvPr id="8" name="Oval 7"/>
          <p:cNvSpPr/>
          <p:nvPr/>
        </p:nvSpPr>
        <p:spPr>
          <a:xfrm>
            <a:off x="6309360" y="1691640"/>
            <a:ext cx="566928" cy="566928"/>
          </a:xfrm>
          <a:prstGeom prst="ellipse">
            <a:avLst/>
          </a:prstGeom>
          <a:solidFill>
            <a:srgbClr val="F5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91640"/>
            <a:ext cx="566928" cy="566928"/>
          </a:xfrm>
          <a:prstGeom prst="rect">
            <a:avLst/>
          </a:prstGeom>
          <a:noFill/>
        </p:spPr>
        <p:txBody>
          <a:bodyPr wrap="none" anchor="ctr" lIns="0" rIns="0" tIns="0" bIns="0">
            <a:spAutoFit/>
          </a:bodyPr>
          <a:lstStyle/>
          <a:p>
            <a:pPr algn="ctr"/>
            <a:r>
              <a:rPr sz="1500" b="0" i="0">
                <a:solidFill>
                  <a:srgbClr val="1E2024"/>
                </a:solidFill>
                <a:latin typeface="Segoe UI Symbol"/>
              </a:rPr>
              <a:t>🖵</a:t>
            </a:r>
          </a:p>
        </p:txBody>
      </p:sp>
      <p:sp>
        <p:nvSpPr>
          <p:cNvPr id="10" name="TextBox 9"/>
          <p:cNvSpPr txBox="1"/>
          <p:nvPr/>
        </p:nvSpPr>
        <p:spPr>
          <a:xfrm>
            <a:off x="6309360" y="2468880"/>
            <a:ext cx="5074920" cy="365760"/>
          </a:xfrm>
          <a:prstGeom prst="rect">
            <a:avLst/>
          </a:prstGeom>
          <a:noFill/>
        </p:spPr>
        <p:txBody>
          <a:bodyPr wrap="square" anchor="t" lIns="0" rIns="0" tIns="0" bIns="0">
            <a:spAutoFit/>
          </a:bodyPr>
          <a:lstStyle/>
          <a:p>
            <a:pPr algn="l">
              <a:lnSpc>
                <a:spcPct val="100000"/>
              </a:lnSpc>
            </a:pPr>
            <a:r>
              <a:rPr sz="1600" b="1" i="0">
                <a:solidFill>
                  <a:srgbClr val="16171A"/>
                </a:solidFill>
                <a:latin typeface="Segoe UI Semibold"/>
              </a:rPr>
              <a:t>Frontend Dashboard</a:t>
            </a:r>
          </a:p>
        </p:txBody>
      </p:sp>
      <p:sp>
        <p:nvSpPr>
          <p:cNvPr id="11" name="TextBox 10"/>
          <p:cNvSpPr txBox="1"/>
          <p:nvPr/>
        </p:nvSpPr>
        <p:spPr>
          <a:xfrm>
            <a:off x="6309360" y="2862072"/>
            <a:ext cx="5074920" cy="521208"/>
          </a:xfrm>
          <a:prstGeom prst="rect">
            <a:avLst/>
          </a:prstGeom>
          <a:noFill/>
        </p:spPr>
        <p:txBody>
          <a:bodyPr wrap="square" anchor="t" lIns="0" rIns="0" tIns="0" bIns="0">
            <a:spAutoFit/>
          </a:bodyPr>
          <a:lstStyle/>
          <a:p>
            <a:pPr algn="l">
              <a:lnSpc>
                <a:spcPct val="120000"/>
              </a:lnSpc>
            </a:pPr>
            <a:r>
              <a:rPr sz="1250" b="0" i="0">
                <a:solidFill>
                  <a:srgbClr val="5B5F66"/>
                </a:solidFill>
                <a:latin typeface="Segoe UI"/>
              </a:rPr>
              <a:t>React UI with map, bus list, alerts, and admin control panel.</a:t>
            </a:r>
          </a:p>
        </p:txBody>
      </p:sp>
      <p:sp>
        <p:nvSpPr>
          <p:cNvPr id="12" name="Oval 11"/>
          <p:cNvSpPr/>
          <p:nvPr/>
        </p:nvSpPr>
        <p:spPr>
          <a:xfrm>
            <a:off x="685800" y="3703320"/>
            <a:ext cx="566928" cy="566928"/>
          </a:xfrm>
          <a:prstGeom prst="ellipse">
            <a:avLst/>
          </a:prstGeom>
          <a:solidFill>
            <a:srgbClr val="F5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703320"/>
            <a:ext cx="566928" cy="566928"/>
          </a:xfrm>
          <a:prstGeom prst="rect">
            <a:avLst/>
          </a:prstGeom>
          <a:noFill/>
        </p:spPr>
        <p:txBody>
          <a:bodyPr wrap="none" anchor="ctr" lIns="0" rIns="0" tIns="0" bIns="0">
            <a:spAutoFit/>
          </a:bodyPr>
          <a:lstStyle/>
          <a:p>
            <a:pPr algn="ctr"/>
            <a:r>
              <a:rPr sz="1500" b="0" i="0">
                <a:solidFill>
                  <a:srgbClr val="1E2024"/>
                </a:solidFill>
                <a:latin typeface="Segoe UI Symbol"/>
              </a:rPr>
              <a:t>⇄</a:t>
            </a:r>
          </a:p>
        </p:txBody>
      </p:sp>
      <p:sp>
        <p:nvSpPr>
          <p:cNvPr id="14" name="TextBox 13"/>
          <p:cNvSpPr txBox="1"/>
          <p:nvPr/>
        </p:nvSpPr>
        <p:spPr>
          <a:xfrm>
            <a:off x="685800" y="4480560"/>
            <a:ext cx="5074920" cy="365760"/>
          </a:xfrm>
          <a:prstGeom prst="rect">
            <a:avLst/>
          </a:prstGeom>
          <a:noFill/>
        </p:spPr>
        <p:txBody>
          <a:bodyPr wrap="square" anchor="t" lIns="0" rIns="0" tIns="0" bIns="0">
            <a:spAutoFit/>
          </a:bodyPr>
          <a:lstStyle/>
          <a:p>
            <a:pPr algn="l">
              <a:lnSpc>
                <a:spcPct val="100000"/>
              </a:lnSpc>
            </a:pPr>
            <a:r>
              <a:rPr sz="1600" b="1" i="0">
                <a:solidFill>
                  <a:srgbClr val="16171A"/>
                </a:solidFill>
                <a:latin typeface="Segoe UI Semibold"/>
              </a:rPr>
              <a:t>WebSocket Communication</a:t>
            </a:r>
          </a:p>
        </p:txBody>
      </p:sp>
      <p:sp>
        <p:nvSpPr>
          <p:cNvPr id="15" name="TextBox 14"/>
          <p:cNvSpPr txBox="1"/>
          <p:nvPr/>
        </p:nvSpPr>
        <p:spPr>
          <a:xfrm>
            <a:off x="685800" y="4873752"/>
            <a:ext cx="5074920" cy="521208"/>
          </a:xfrm>
          <a:prstGeom prst="rect">
            <a:avLst/>
          </a:prstGeom>
          <a:noFill/>
        </p:spPr>
        <p:txBody>
          <a:bodyPr wrap="square" anchor="t" lIns="0" rIns="0" tIns="0" bIns="0">
            <a:spAutoFit/>
          </a:bodyPr>
          <a:lstStyle/>
          <a:p>
            <a:pPr algn="l">
              <a:lnSpc>
                <a:spcPct val="120000"/>
              </a:lnSpc>
            </a:pPr>
            <a:r>
              <a:rPr sz="1250" b="0" i="0">
                <a:solidFill>
                  <a:srgbClr val="5B5F66"/>
                </a:solidFill>
                <a:latin typeface="Segoe UI"/>
              </a:rPr>
              <a:t>Persistent low-latency channel for pushing live updates to the frontend.</a:t>
            </a:r>
          </a:p>
        </p:txBody>
      </p:sp>
      <p:sp>
        <p:nvSpPr>
          <p:cNvPr id="16" name="Oval 15"/>
          <p:cNvSpPr/>
          <p:nvPr/>
        </p:nvSpPr>
        <p:spPr>
          <a:xfrm>
            <a:off x="6309360" y="3703320"/>
            <a:ext cx="566928" cy="566928"/>
          </a:xfrm>
          <a:prstGeom prst="ellipse">
            <a:avLst/>
          </a:prstGeom>
          <a:solidFill>
            <a:srgbClr val="F5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3703320"/>
            <a:ext cx="566928" cy="566928"/>
          </a:xfrm>
          <a:prstGeom prst="rect">
            <a:avLst/>
          </a:prstGeom>
          <a:noFill/>
        </p:spPr>
        <p:txBody>
          <a:bodyPr wrap="none" anchor="ctr" lIns="0" rIns="0" tIns="0" bIns="0">
            <a:spAutoFit/>
          </a:bodyPr>
          <a:lstStyle/>
          <a:p>
            <a:pPr algn="ctr"/>
            <a:r>
              <a:rPr sz="1500" b="0" i="0">
                <a:solidFill>
                  <a:srgbClr val="1E2024"/>
                </a:solidFill>
                <a:latin typeface="Segoe UI Symbol"/>
              </a:rPr>
              <a:t>⚑</a:t>
            </a:r>
          </a:p>
        </p:txBody>
      </p:sp>
      <p:sp>
        <p:nvSpPr>
          <p:cNvPr id="18" name="TextBox 17"/>
          <p:cNvSpPr txBox="1"/>
          <p:nvPr/>
        </p:nvSpPr>
        <p:spPr>
          <a:xfrm>
            <a:off x="6309360" y="4480560"/>
            <a:ext cx="5074920" cy="365760"/>
          </a:xfrm>
          <a:prstGeom prst="rect">
            <a:avLst/>
          </a:prstGeom>
          <a:noFill/>
        </p:spPr>
        <p:txBody>
          <a:bodyPr wrap="square" anchor="t" lIns="0" rIns="0" tIns="0" bIns="0">
            <a:spAutoFit/>
          </a:bodyPr>
          <a:lstStyle/>
          <a:p>
            <a:pPr algn="l">
              <a:lnSpc>
                <a:spcPct val="100000"/>
              </a:lnSpc>
            </a:pPr>
            <a:r>
              <a:rPr sz="1600" b="1" i="0">
                <a:solidFill>
                  <a:srgbClr val="16171A"/>
                </a:solidFill>
                <a:latin typeface="Segoe UI Semibold"/>
              </a:rPr>
              <a:t>Route Generation &amp; Diversion</a:t>
            </a:r>
          </a:p>
        </p:txBody>
      </p:sp>
      <p:sp>
        <p:nvSpPr>
          <p:cNvPr id="19" name="TextBox 18"/>
          <p:cNvSpPr txBox="1"/>
          <p:nvPr/>
        </p:nvSpPr>
        <p:spPr>
          <a:xfrm>
            <a:off x="6309360" y="4873752"/>
            <a:ext cx="5074920" cy="521208"/>
          </a:xfrm>
          <a:prstGeom prst="rect">
            <a:avLst/>
          </a:prstGeom>
          <a:noFill/>
        </p:spPr>
        <p:txBody>
          <a:bodyPr wrap="square" anchor="t" lIns="0" rIns="0" tIns="0" bIns="0">
            <a:spAutoFit/>
          </a:bodyPr>
          <a:lstStyle/>
          <a:p>
            <a:pPr algn="l">
              <a:lnSpc>
                <a:spcPct val="120000"/>
              </a:lnSpc>
            </a:pPr>
            <a:r>
              <a:rPr sz="1250" b="0" i="0">
                <a:solidFill>
                  <a:srgbClr val="5B5F66"/>
                </a:solidFill>
                <a:latin typeface="Segoe UI"/>
              </a:rPr>
              <a:t>Computes and renders alternative paths when a bus is diverted by admin.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640080" cy="320040"/>
          </a:xfrm>
          <a:prstGeom prst="rect">
            <a:avLst/>
          </a:prstGeom>
          <a:noFill/>
        </p:spPr>
        <p:txBody>
          <a:bodyPr wrap="square" anchor="t" lIns="0" rIns="0" tIns="0" bIns="0">
            <a:spAutoFit/>
          </a:bodyPr>
          <a:lstStyle/>
          <a:p>
            <a:pPr algn="r">
              <a:lnSpc>
                <a:spcPct val="100000"/>
              </a:lnSpc>
            </a:pPr>
            <a:r>
              <a:rPr sz="1000" b="0" i="0">
                <a:solidFill>
                  <a:srgbClr val="9A9DA1"/>
                </a:solidFill>
                <a:latin typeface="Segoe UI"/>
              </a:rPr>
              <a:t>6</a:t>
            </a:r>
          </a:p>
        </p:txBody>
      </p:sp>
      <p:sp>
        <p:nvSpPr>
          <p:cNvPr id="3" name="TextBox 2"/>
          <p:cNvSpPr txBox="1"/>
          <p:nvPr/>
        </p:nvSpPr>
        <p:spPr>
          <a:xfrm>
            <a:off x="685800" y="457200"/>
            <a:ext cx="10789920" cy="822960"/>
          </a:xfrm>
          <a:prstGeom prst="rect">
            <a:avLst/>
          </a:prstGeom>
          <a:noFill/>
        </p:spPr>
        <p:txBody>
          <a:bodyPr wrap="square" anchor="t" lIns="0" rIns="0" tIns="0" bIns="0">
            <a:spAutoFit/>
          </a:bodyPr>
          <a:lstStyle/>
          <a:p>
            <a:pPr algn="l">
              <a:lnSpc>
                <a:spcPct val="100000"/>
              </a:lnSpc>
            </a:pPr>
            <a:r>
              <a:rPr sz="3000" b="1" i="0">
                <a:solidFill>
                  <a:srgbClr val="16171A"/>
                </a:solidFill>
                <a:latin typeface="Segoe UI Semibold"/>
              </a:rPr>
              <a:t>System Architecture and Workflow</a:t>
            </a:r>
          </a:p>
        </p:txBody>
      </p:sp>
      <p:cxnSp>
        <p:nvCxnSpPr>
          <p:cNvPr id="4" name="Connector 3"/>
          <p:cNvCxnSpPr/>
          <p:nvPr/>
        </p:nvCxnSpPr>
        <p:spPr>
          <a:xfrm>
            <a:off x="1005840" y="3429000"/>
            <a:ext cx="10180015" cy="0"/>
          </a:xfrm>
          <a:prstGeom prst="line">
            <a:avLst/>
          </a:prstGeom>
          <a:ln w="15875">
            <a:solidFill>
              <a:srgbClr val="DADAD8"/>
            </a:solidFill>
          </a:ln>
          <a:effectLst/>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602714" y="3177540"/>
            <a:ext cx="502920" cy="502920"/>
          </a:xfrm>
          <a:prstGeom prst="ellipse">
            <a:avLst/>
          </a:prstGeom>
          <a:solidFill>
            <a:srgbClr val="F5F4F1"/>
          </a:solidFill>
          <a:ln w="19050">
            <a:solidFill>
              <a:srgbClr val="1E9E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4420" y="2011680"/>
            <a:ext cx="1559509" cy="548640"/>
          </a:xfrm>
          <a:prstGeom prst="rect">
            <a:avLst/>
          </a:prstGeom>
          <a:noFill/>
        </p:spPr>
        <p:txBody>
          <a:bodyPr wrap="square" anchor="t" lIns="0" rIns="0" tIns="0" bIns="0">
            <a:spAutoFit/>
          </a:bodyPr>
          <a:lstStyle/>
          <a:p>
            <a:pPr algn="ctr">
              <a:lnSpc>
                <a:spcPct val="105000"/>
              </a:lnSpc>
            </a:pPr>
            <a:r>
              <a:rPr sz="1300" b="1" i="0">
                <a:solidFill>
                  <a:srgbClr val="16171A"/>
                </a:solidFill>
                <a:latin typeface="Segoe UI Semibold"/>
              </a:rPr>
              <a:t>Backend</a:t>
            </a:r>
          </a:p>
          <a:p>
            <a:pPr algn="ctr">
              <a:lnSpc>
                <a:spcPct val="105000"/>
              </a:lnSpc>
            </a:pPr>
            <a:r>
              <a:rPr sz="1300" b="1" i="0">
                <a:solidFill>
                  <a:srgbClr val="16171A"/>
                </a:solidFill>
                <a:latin typeface="Segoe UI Semibold"/>
              </a:rPr>
              <a:t>Simulation</a:t>
            </a:r>
          </a:p>
        </p:txBody>
      </p:sp>
      <p:sp>
        <p:nvSpPr>
          <p:cNvPr id="7" name="TextBox 6"/>
          <p:cNvSpPr txBox="1"/>
          <p:nvPr/>
        </p:nvSpPr>
        <p:spPr>
          <a:xfrm>
            <a:off x="1074420" y="2560320"/>
            <a:ext cx="1559509" cy="685800"/>
          </a:xfrm>
          <a:prstGeom prst="rect">
            <a:avLst/>
          </a:prstGeom>
          <a:noFill/>
        </p:spPr>
        <p:txBody>
          <a:bodyPr wrap="square" anchor="t" lIns="0" rIns="0" tIns="0" bIns="0">
            <a:spAutoFit/>
          </a:bodyPr>
          <a:lstStyle/>
          <a:p>
            <a:pPr algn="ctr">
              <a:lnSpc>
                <a:spcPct val="115000"/>
              </a:lnSpc>
            </a:pPr>
            <a:r>
              <a:rPr sz="1050" b="0" i="0">
                <a:solidFill>
                  <a:srgbClr val="5B5F66"/>
                </a:solidFill>
                <a:latin typeface="Segoe UI"/>
              </a:rPr>
              <a:t>Generates bus GPS</a:t>
            </a:r>
          </a:p>
          <a:p>
            <a:pPr algn="ctr">
              <a:lnSpc>
                <a:spcPct val="115000"/>
              </a:lnSpc>
            </a:pPr>
            <a:r>
              <a:rPr sz="1050" b="0" i="0">
                <a:solidFill>
                  <a:srgbClr val="5B5F66"/>
                </a:solidFill>
                <a:latin typeface="Segoe UI"/>
              </a:rPr>
              <a:t>and speed data</a:t>
            </a:r>
          </a:p>
        </p:txBody>
      </p:sp>
      <p:sp>
        <p:nvSpPr>
          <p:cNvPr id="8" name="Oval 7"/>
          <p:cNvSpPr/>
          <p:nvPr/>
        </p:nvSpPr>
        <p:spPr>
          <a:xfrm>
            <a:off x="3299383" y="3177540"/>
            <a:ext cx="502920" cy="502920"/>
          </a:xfrm>
          <a:prstGeom prst="ellipse">
            <a:avLst/>
          </a:prstGeom>
          <a:solidFill>
            <a:srgbClr val="F5F4F1"/>
          </a:solidFill>
          <a:ln w="19050">
            <a:solidFill>
              <a:srgbClr val="1E9E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71089" y="3840480"/>
            <a:ext cx="1559509" cy="548640"/>
          </a:xfrm>
          <a:prstGeom prst="rect">
            <a:avLst/>
          </a:prstGeom>
          <a:noFill/>
        </p:spPr>
        <p:txBody>
          <a:bodyPr wrap="square" anchor="t" lIns="0" rIns="0" tIns="0" bIns="0">
            <a:spAutoFit/>
          </a:bodyPr>
          <a:lstStyle/>
          <a:p>
            <a:pPr algn="ctr">
              <a:lnSpc>
                <a:spcPct val="105000"/>
              </a:lnSpc>
            </a:pPr>
            <a:r>
              <a:rPr sz="1300" b="1" i="0">
                <a:solidFill>
                  <a:srgbClr val="16171A"/>
                </a:solidFill>
                <a:latin typeface="Segoe UI Semibold"/>
              </a:rPr>
              <a:t>WebSocket</a:t>
            </a:r>
          </a:p>
          <a:p>
            <a:pPr algn="ctr">
              <a:lnSpc>
                <a:spcPct val="105000"/>
              </a:lnSpc>
            </a:pPr>
            <a:r>
              <a:rPr sz="1300" b="1" i="0">
                <a:solidFill>
                  <a:srgbClr val="16171A"/>
                </a:solidFill>
                <a:latin typeface="Segoe UI Semibold"/>
              </a:rPr>
              <a:t>Stream</a:t>
            </a:r>
          </a:p>
        </p:txBody>
      </p:sp>
      <p:sp>
        <p:nvSpPr>
          <p:cNvPr id="10" name="TextBox 9"/>
          <p:cNvSpPr txBox="1"/>
          <p:nvPr/>
        </p:nvSpPr>
        <p:spPr>
          <a:xfrm>
            <a:off x="2771089" y="4389120"/>
            <a:ext cx="1559509" cy="685800"/>
          </a:xfrm>
          <a:prstGeom prst="rect">
            <a:avLst/>
          </a:prstGeom>
          <a:noFill/>
        </p:spPr>
        <p:txBody>
          <a:bodyPr wrap="square" anchor="t" lIns="0" rIns="0" tIns="0" bIns="0">
            <a:spAutoFit/>
          </a:bodyPr>
          <a:lstStyle/>
          <a:p>
            <a:pPr algn="ctr">
              <a:lnSpc>
                <a:spcPct val="115000"/>
              </a:lnSpc>
            </a:pPr>
            <a:r>
              <a:rPr sz="1050" b="0" i="0">
                <a:solidFill>
                  <a:srgbClr val="5B5F66"/>
                </a:solidFill>
                <a:latin typeface="Segoe UI"/>
              </a:rPr>
              <a:t>Pushes live ticks</a:t>
            </a:r>
          </a:p>
          <a:p>
            <a:pPr algn="ctr">
              <a:lnSpc>
                <a:spcPct val="115000"/>
              </a:lnSpc>
            </a:pPr>
            <a:r>
              <a:rPr sz="1050" b="0" i="0">
                <a:solidFill>
                  <a:srgbClr val="5B5F66"/>
                </a:solidFill>
                <a:latin typeface="Segoe UI"/>
              </a:rPr>
              <a:t>to the frontend</a:t>
            </a:r>
          </a:p>
        </p:txBody>
      </p:sp>
      <p:sp>
        <p:nvSpPr>
          <p:cNvPr id="11" name="Oval 10"/>
          <p:cNvSpPr/>
          <p:nvPr/>
        </p:nvSpPr>
        <p:spPr>
          <a:xfrm>
            <a:off x="4996052" y="3177540"/>
            <a:ext cx="502920" cy="502920"/>
          </a:xfrm>
          <a:prstGeom prst="ellipse">
            <a:avLst/>
          </a:prstGeom>
          <a:solidFill>
            <a:srgbClr val="F5F4F1"/>
          </a:solidFill>
          <a:ln w="19050">
            <a:solidFill>
              <a:srgbClr val="1E9E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67758" y="2011680"/>
            <a:ext cx="1559509" cy="548640"/>
          </a:xfrm>
          <a:prstGeom prst="rect">
            <a:avLst/>
          </a:prstGeom>
          <a:noFill/>
        </p:spPr>
        <p:txBody>
          <a:bodyPr wrap="square" anchor="t" lIns="0" rIns="0" tIns="0" bIns="0">
            <a:spAutoFit/>
          </a:bodyPr>
          <a:lstStyle/>
          <a:p>
            <a:pPr algn="ctr">
              <a:lnSpc>
                <a:spcPct val="105000"/>
              </a:lnSpc>
            </a:pPr>
            <a:r>
              <a:rPr sz="1300" b="1" i="0">
                <a:solidFill>
                  <a:srgbClr val="16171A"/>
                </a:solidFill>
                <a:latin typeface="Segoe UI Semibold"/>
              </a:rPr>
              <a:t>Frontend</a:t>
            </a:r>
          </a:p>
          <a:p>
            <a:pPr algn="ctr">
              <a:lnSpc>
                <a:spcPct val="105000"/>
              </a:lnSpc>
            </a:pPr>
            <a:r>
              <a:rPr sz="1300" b="1" i="0">
                <a:solidFill>
                  <a:srgbClr val="16171A"/>
                </a:solidFill>
                <a:latin typeface="Segoe UI Semibold"/>
              </a:rPr>
              <a:t>Dashboard</a:t>
            </a:r>
          </a:p>
        </p:txBody>
      </p:sp>
      <p:sp>
        <p:nvSpPr>
          <p:cNvPr id="13" name="TextBox 12"/>
          <p:cNvSpPr txBox="1"/>
          <p:nvPr/>
        </p:nvSpPr>
        <p:spPr>
          <a:xfrm>
            <a:off x="4467758" y="2560320"/>
            <a:ext cx="1559509" cy="685800"/>
          </a:xfrm>
          <a:prstGeom prst="rect">
            <a:avLst/>
          </a:prstGeom>
          <a:noFill/>
        </p:spPr>
        <p:txBody>
          <a:bodyPr wrap="square" anchor="t" lIns="0" rIns="0" tIns="0" bIns="0">
            <a:spAutoFit/>
          </a:bodyPr>
          <a:lstStyle/>
          <a:p>
            <a:pPr algn="ctr">
              <a:lnSpc>
                <a:spcPct val="115000"/>
              </a:lnSpc>
            </a:pPr>
            <a:r>
              <a:rPr sz="1050" b="0" i="0">
                <a:solidFill>
                  <a:srgbClr val="5B5F66"/>
                </a:solidFill>
                <a:latin typeface="Segoe UI"/>
              </a:rPr>
              <a:t>Renders map, bus</a:t>
            </a:r>
          </a:p>
          <a:p>
            <a:pPr algn="ctr">
              <a:lnSpc>
                <a:spcPct val="115000"/>
              </a:lnSpc>
            </a:pPr>
            <a:r>
              <a:rPr sz="1050" b="0" i="0">
                <a:solidFill>
                  <a:srgbClr val="5B5F66"/>
                </a:solidFill>
                <a:latin typeface="Segoe UI"/>
              </a:rPr>
              <a:t>list, and alerts</a:t>
            </a:r>
          </a:p>
        </p:txBody>
      </p:sp>
      <p:sp>
        <p:nvSpPr>
          <p:cNvPr id="14" name="Oval 13"/>
          <p:cNvSpPr/>
          <p:nvPr/>
        </p:nvSpPr>
        <p:spPr>
          <a:xfrm>
            <a:off x="6692722" y="3177540"/>
            <a:ext cx="502920" cy="502920"/>
          </a:xfrm>
          <a:prstGeom prst="ellipse">
            <a:avLst/>
          </a:prstGeom>
          <a:solidFill>
            <a:srgbClr val="F5F4F1"/>
          </a:solidFill>
          <a:ln w="19050">
            <a:solidFill>
              <a:srgbClr val="1E9E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64427" y="3840480"/>
            <a:ext cx="1559509" cy="548640"/>
          </a:xfrm>
          <a:prstGeom prst="rect">
            <a:avLst/>
          </a:prstGeom>
          <a:noFill/>
        </p:spPr>
        <p:txBody>
          <a:bodyPr wrap="square" anchor="t" lIns="0" rIns="0" tIns="0" bIns="0">
            <a:spAutoFit/>
          </a:bodyPr>
          <a:lstStyle/>
          <a:p>
            <a:pPr algn="ctr">
              <a:lnSpc>
                <a:spcPct val="105000"/>
              </a:lnSpc>
            </a:pPr>
            <a:r>
              <a:rPr sz="1300" b="1" i="0">
                <a:solidFill>
                  <a:srgbClr val="16171A"/>
                </a:solidFill>
                <a:latin typeface="Segoe UI Semibold"/>
              </a:rPr>
              <a:t>Bunching</a:t>
            </a:r>
          </a:p>
          <a:p>
            <a:pPr algn="ctr">
              <a:lnSpc>
                <a:spcPct val="105000"/>
              </a:lnSpc>
            </a:pPr>
            <a:r>
              <a:rPr sz="1300" b="1" i="0">
                <a:solidFill>
                  <a:srgbClr val="16171A"/>
                </a:solidFill>
                <a:latin typeface="Segoe UI Semibold"/>
              </a:rPr>
              <a:t>Detection</a:t>
            </a:r>
          </a:p>
        </p:txBody>
      </p:sp>
      <p:sp>
        <p:nvSpPr>
          <p:cNvPr id="16" name="TextBox 15"/>
          <p:cNvSpPr txBox="1"/>
          <p:nvPr/>
        </p:nvSpPr>
        <p:spPr>
          <a:xfrm>
            <a:off x="6164427" y="4389120"/>
            <a:ext cx="1559509" cy="685800"/>
          </a:xfrm>
          <a:prstGeom prst="rect">
            <a:avLst/>
          </a:prstGeom>
          <a:noFill/>
        </p:spPr>
        <p:txBody>
          <a:bodyPr wrap="square" anchor="t" lIns="0" rIns="0" tIns="0" bIns="0">
            <a:spAutoFit/>
          </a:bodyPr>
          <a:lstStyle/>
          <a:p>
            <a:pPr algn="ctr">
              <a:lnSpc>
                <a:spcPct val="115000"/>
              </a:lnSpc>
            </a:pPr>
            <a:r>
              <a:rPr sz="1050" b="0" i="0">
                <a:solidFill>
                  <a:srgbClr val="5B5F66"/>
                </a:solidFill>
                <a:latin typeface="Segoe UI"/>
              </a:rPr>
              <a:t>Flags proximity</a:t>
            </a:r>
          </a:p>
          <a:p>
            <a:pPr algn="ctr">
              <a:lnSpc>
                <a:spcPct val="115000"/>
              </a:lnSpc>
            </a:pPr>
            <a:r>
              <a:rPr sz="1050" b="0" i="0">
                <a:solidFill>
                  <a:srgbClr val="5B5F66"/>
                </a:solidFill>
                <a:latin typeface="Segoe UI"/>
              </a:rPr>
              <a:t>violations</a:t>
            </a:r>
          </a:p>
        </p:txBody>
      </p:sp>
      <p:sp>
        <p:nvSpPr>
          <p:cNvPr id="17" name="Oval 16"/>
          <p:cNvSpPr/>
          <p:nvPr/>
        </p:nvSpPr>
        <p:spPr>
          <a:xfrm>
            <a:off x="8389391" y="3177540"/>
            <a:ext cx="502920" cy="502920"/>
          </a:xfrm>
          <a:prstGeom prst="ellipse">
            <a:avLst/>
          </a:prstGeom>
          <a:solidFill>
            <a:srgbClr val="F5F4F1"/>
          </a:solidFill>
          <a:ln w="19050">
            <a:solidFill>
              <a:srgbClr val="1E9E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1096" y="2011680"/>
            <a:ext cx="1559509" cy="548640"/>
          </a:xfrm>
          <a:prstGeom prst="rect">
            <a:avLst/>
          </a:prstGeom>
          <a:noFill/>
        </p:spPr>
        <p:txBody>
          <a:bodyPr wrap="square" anchor="t" lIns="0" rIns="0" tIns="0" bIns="0">
            <a:spAutoFit/>
          </a:bodyPr>
          <a:lstStyle/>
          <a:p>
            <a:pPr algn="ctr">
              <a:lnSpc>
                <a:spcPct val="105000"/>
              </a:lnSpc>
            </a:pPr>
            <a:r>
              <a:rPr sz="1300" b="1" i="0">
                <a:solidFill>
                  <a:srgbClr val="16171A"/>
                </a:solidFill>
                <a:latin typeface="Segoe UI Semibold"/>
              </a:rPr>
              <a:t>Admin</a:t>
            </a:r>
          </a:p>
          <a:p>
            <a:pPr algn="ctr">
              <a:lnSpc>
                <a:spcPct val="105000"/>
              </a:lnSpc>
            </a:pPr>
            <a:r>
              <a:rPr sz="1300" b="1" i="0">
                <a:solidFill>
                  <a:srgbClr val="16171A"/>
                </a:solidFill>
                <a:latin typeface="Segoe UI Semibold"/>
              </a:rPr>
              <a:t>Decision</a:t>
            </a:r>
          </a:p>
        </p:txBody>
      </p:sp>
      <p:sp>
        <p:nvSpPr>
          <p:cNvPr id="19" name="TextBox 18"/>
          <p:cNvSpPr txBox="1"/>
          <p:nvPr/>
        </p:nvSpPr>
        <p:spPr>
          <a:xfrm>
            <a:off x="7861096" y="2560320"/>
            <a:ext cx="1559509" cy="685800"/>
          </a:xfrm>
          <a:prstGeom prst="rect">
            <a:avLst/>
          </a:prstGeom>
          <a:noFill/>
        </p:spPr>
        <p:txBody>
          <a:bodyPr wrap="square" anchor="t" lIns="0" rIns="0" tIns="0" bIns="0">
            <a:spAutoFit/>
          </a:bodyPr>
          <a:lstStyle/>
          <a:p>
            <a:pPr algn="ctr">
              <a:lnSpc>
                <a:spcPct val="115000"/>
              </a:lnSpc>
            </a:pPr>
            <a:r>
              <a:rPr sz="1050" b="0" i="0">
                <a:solidFill>
                  <a:srgbClr val="5B5F66"/>
                </a:solidFill>
                <a:latin typeface="Segoe UI"/>
              </a:rPr>
              <a:t>Divert, stop,</a:t>
            </a:r>
          </a:p>
          <a:p>
            <a:pPr algn="ctr">
              <a:lnSpc>
                <a:spcPct val="115000"/>
              </a:lnSpc>
            </a:pPr>
            <a:r>
              <a:rPr sz="1050" b="0" i="0">
                <a:solidFill>
                  <a:srgbClr val="5B5F66"/>
                </a:solidFill>
                <a:latin typeface="Segoe UI"/>
              </a:rPr>
              <a:t>resume, select route</a:t>
            </a:r>
          </a:p>
        </p:txBody>
      </p:sp>
      <p:sp>
        <p:nvSpPr>
          <p:cNvPr id="20" name="Oval 19"/>
          <p:cNvSpPr/>
          <p:nvPr/>
        </p:nvSpPr>
        <p:spPr>
          <a:xfrm>
            <a:off x="10086060" y="3177540"/>
            <a:ext cx="502920" cy="502920"/>
          </a:xfrm>
          <a:prstGeom prst="ellipse">
            <a:avLst/>
          </a:prstGeom>
          <a:solidFill>
            <a:srgbClr val="F5F4F1"/>
          </a:solidFill>
          <a:ln w="19050">
            <a:solidFill>
              <a:srgbClr val="1E9E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57765" y="3840480"/>
            <a:ext cx="1559509" cy="548640"/>
          </a:xfrm>
          <a:prstGeom prst="rect">
            <a:avLst/>
          </a:prstGeom>
          <a:noFill/>
        </p:spPr>
        <p:txBody>
          <a:bodyPr wrap="square" anchor="t" lIns="0" rIns="0" tIns="0" bIns="0">
            <a:spAutoFit/>
          </a:bodyPr>
          <a:lstStyle/>
          <a:p>
            <a:pPr algn="ctr">
              <a:lnSpc>
                <a:spcPct val="105000"/>
              </a:lnSpc>
            </a:pPr>
            <a:r>
              <a:rPr sz="1300" b="1" i="0">
                <a:solidFill>
                  <a:srgbClr val="16171A"/>
                </a:solidFill>
                <a:latin typeface="Segoe UI Semibold"/>
              </a:rPr>
              <a:t>Live Map</a:t>
            </a:r>
          </a:p>
          <a:p>
            <a:pPr algn="ctr">
              <a:lnSpc>
                <a:spcPct val="105000"/>
              </a:lnSpc>
            </a:pPr>
            <a:r>
              <a:rPr sz="1300" b="1" i="0">
                <a:solidFill>
                  <a:srgbClr val="16171A"/>
                </a:solidFill>
                <a:latin typeface="Segoe UI Semibold"/>
              </a:rPr>
              <a:t>Update</a:t>
            </a:r>
          </a:p>
        </p:txBody>
      </p:sp>
      <p:sp>
        <p:nvSpPr>
          <p:cNvPr id="22" name="TextBox 21"/>
          <p:cNvSpPr txBox="1"/>
          <p:nvPr/>
        </p:nvSpPr>
        <p:spPr>
          <a:xfrm>
            <a:off x="9557765" y="4389120"/>
            <a:ext cx="1559509" cy="685800"/>
          </a:xfrm>
          <a:prstGeom prst="rect">
            <a:avLst/>
          </a:prstGeom>
          <a:noFill/>
        </p:spPr>
        <p:txBody>
          <a:bodyPr wrap="square" anchor="t" lIns="0" rIns="0" tIns="0" bIns="0">
            <a:spAutoFit/>
          </a:bodyPr>
          <a:lstStyle/>
          <a:p>
            <a:pPr algn="ctr">
              <a:lnSpc>
                <a:spcPct val="115000"/>
              </a:lnSpc>
            </a:pPr>
            <a:r>
              <a:rPr sz="1050" b="0" i="0">
                <a:solidFill>
                  <a:srgbClr val="5B5F66"/>
                </a:solidFill>
                <a:latin typeface="Segoe UI"/>
              </a:rPr>
              <a:t>Diversion + status</a:t>
            </a:r>
          </a:p>
          <a:p>
            <a:pPr algn="ctr">
              <a:lnSpc>
                <a:spcPct val="115000"/>
              </a:lnSpc>
            </a:pPr>
            <a:r>
              <a:rPr sz="1050" b="0" i="0">
                <a:solidFill>
                  <a:srgbClr val="5B5F66"/>
                </a:solidFill>
                <a:latin typeface="Segoe UI"/>
              </a:rPr>
              <a:t>reflected instantly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640080" cy="320040"/>
          </a:xfrm>
          <a:prstGeom prst="rect">
            <a:avLst/>
          </a:prstGeom>
          <a:noFill/>
        </p:spPr>
        <p:txBody>
          <a:bodyPr wrap="square" anchor="t" lIns="0" rIns="0" tIns="0" bIns="0">
            <a:spAutoFit/>
          </a:bodyPr>
          <a:lstStyle/>
          <a:p>
            <a:pPr algn="r">
              <a:lnSpc>
                <a:spcPct val="100000"/>
              </a:lnSpc>
            </a:pPr>
            <a:r>
              <a:rPr sz="1000" b="0" i="0">
                <a:solidFill>
                  <a:srgbClr val="9A9DA1"/>
                </a:solidFill>
                <a:latin typeface="Segoe UI"/>
              </a:rPr>
              <a:t>7</a:t>
            </a:r>
          </a:p>
        </p:txBody>
      </p:sp>
      <p:sp>
        <p:nvSpPr>
          <p:cNvPr id="3" name="TextBox 2"/>
          <p:cNvSpPr txBox="1"/>
          <p:nvPr/>
        </p:nvSpPr>
        <p:spPr>
          <a:xfrm>
            <a:off x="685800" y="457200"/>
            <a:ext cx="10789920" cy="822960"/>
          </a:xfrm>
          <a:prstGeom prst="rect">
            <a:avLst/>
          </a:prstGeom>
          <a:noFill/>
        </p:spPr>
        <p:txBody>
          <a:bodyPr wrap="square" anchor="t" lIns="0" rIns="0" tIns="0" bIns="0">
            <a:spAutoFit/>
          </a:bodyPr>
          <a:lstStyle/>
          <a:p>
            <a:pPr algn="l">
              <a:lnSpc>
                <a:spcPct val="100000"/>
              </a:lnSpc>
            </a:pPr>
            <a:r>
              <a:rPr sz="3000" b="1" i="0">
                <a:solidFill>
                  <a:srgbClr val="16171A"/>
                </a:solidFill>
                <a:latin typeface="Segoe UI Semibold"/>
              </a:rPr>
              <a:t>Input and Output</a:t>
            </a:r>
          </a:p>
        </p:txBody>
      </p:sp>
      <p:sp>
        <p:nvSpPr>
          <p:cNvPr id="4" name="TextBox 3"/>
          <p:cNvSpPr txBox="1"/>
          <p:nvPr/>
        </p:nvSpPr>
        <p:spPr>
          <a:xfrm>
            <a:off x="685800" y="1737360"/>
            <a:ext cx="5120640" cy="365760"/>
          </a:xfrm>
          <a:prstGeom prst="rect">
            <a:avLst/>
          </a:prstGeom>
          <a:noFill/>
        </p:spPr>
        <p:txBody>
          <a:bodyPr wrap="square" anchor="t" lIns="0" rIns="0" tIns="0" bIns="0">
            <a:spAutoFit/>
          </a:bodyPr>
          <a:lstStyle/>
          <a:p>
            <a:pPr algn="l">
              <a:lnSpc>
                <a:spcPct val="100000"/>
              </a:lnSpc>
            </a:pPr>
            <a:r>
              <a:rPr sz="1700" b="1" i="0">
                <a:solidFill>
                  <a:srgbClr val="16171A"/>
                </a:solidFill>
                <a:latin typeface="Segoe UI Semibold"/>
              </a:rPr>
              <a:t>System Inputs</a:t>
            </a:r>
          </a:p>
        </p:txBody>
      </p:sp>
      <p:cxnSp>
        <p:nvCxnSpPr>
          <p:cNvPr id="5" name="Connector 4"/>
          <p:cNvCxnSpPr/>
          <p:nvPr/>
        </p:nvCxnSpPr>
        <p:spPr>
          <a:xfrm>
            <a:off x="685800" y="2194560"/>
            <a:ext cx="1097280" cy="0"/>
          </a:xfrm>
          <a:prstGeom prst="line">
            <a:avLst/>
          </a:prstGeom>
          <a:ln w="28575">
            <a:solidFill>
              <a:srgbClr val="1E9E6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2423160"/>
            <a:ext cx="5120640" cy="2926080"/>
          </a:xfrm>
          <a:prstGeom prst="rect">
            <a:avLst/>
          </a:prstGeom>
          <a:noFill/>
        </p:spPr>
        <p:txBody>
          <a:bodyPr wrap="square" lIns="0" rIns="0" tIns="0" bIns="0">
            <a:spAutoFit/>
          </a:bodyPr>
          <a:lstStyle/>
          <a:p>
            <a:pPr>
              <a:lnSpc>
                <a:spcPct val="112000"/>
              </a:lnSpc>
              <a:spcAft>
                <a:spcPts val="1200"/>
              </a:spcAft>
            </a:pPr>
            <a:r>
              <a:rPr sz="1350" b="0" i="0">
                <a:solidFill>
                  <a:srgbClr val="1E9E6B"/>
                </a:solidFill>
                <a:latin typeface="Segoe UI"/>
              </a:rPr>
              <a:t>•  </a:t>
            </a:r>
            <a:r>
              <a:rPr sz="1350" b="0" i="0">
                <a:solidFill>
                  <a:srgbClr val="5B5F66"/>
                </a:solidFill>
                <a:latin typeface="Segoe UI"/>
              </a:rPr>
              <a:t>Bus GPS coordinates and speed from backend simulation</a:t>
            </a:r>
          </a:p>
          <a:p>
            <a:pPr>
              <a:lnSpc>
                <a:spcPct val="112000"/>
              </a:lnSpc>
              <a:spcAft>
                <a:spcPts val="1200"/>
              </a:spcAft>
            </a:pPr>
            <a:r>
              <a:rPr sz="1350" b="0" i="0">
                <a:solidFill>
                  <a:srgbClr val="1E9E6B"/>
                </a:solidFill>
                <a:latin typeface="Segoe UI"/>
              </a:rPr>
              <a:t>•  </a:t>
            </a:r>
            <a:r>
              <a:rPr sz="1350" b="0" i="0">
                <a:solidFill>
                  <a:srgbClr val="5B5F66"/>
                </a:solidFill>
                <a:latin typeface="Segoe UI"/>
              </a:rPr>
              <a:t>Route geometry: waypoints, stops, and destination points</a:t>
            </a:r>
          </a:p>
          <a:p>
            <a:pPr>
              <a:lnSpc>
                <a:spcPct val="112000"/>
              </a:lnSpc>
              <a:spcAft>
                <a:spcPts val="1200"/>
              </a:spcAft>
            </a:pPr>
            <a:r>
              <a:rPr sz="1350" b="0" i="0">
                <a:solidFill>
                  <a:srgbClr val="1E9E6B"/>
                </a:solidFill>
                <a:latin typeface="Segoe UI"/>
              </a:rPr>
              <a:t>•  </a:t>
            </a:r>
            <a:r>
              <a:rPr sz="1350" b="0" i="0">
                <a:solidFill>
                  <a:srgbClr val="5B5F66"/>
                </a:solidFill>
                <a:latin typeface="Segoe UI"/>
              </a:rPr>
              <a:t>Admin commands: divert, stop, resume, select route</a:t>
            </a:r>
          </a:p>
          <a:p>
            <a:pPr>
              <a:lnSpc>
                <a:spcPct val="112000"/>
              </a:lnSpc>
              <a:spcAft>
                <a:spcPts val="1200"/>
              </a:spcAft>
            </a:pPr>
            <a:r>
              <a:rPr sz="1350" b="0" i="0">
                <a:solidFill>
                  <a:srgbClr val="1E9E6B"/>
                </a:solidFill>
                <a:latin typeface="Segoe UI"/>
              </a:rPr>
              <a:t>•  </a:t>
            </a:r>
            <a:r>
              <a:rPr sz="1350" b="0" i="0">
                <a:solidFill>
                  <a:srgbClr val="5B5F66"/>
                </a:solidFill>
                <a:latin typeface="Segoe UI"/>
              </a:rPr>
              <a:t>Live simulation ticks streamed over WebSocket</a:t>
            </a:r>
          </a:p>
        </p:txBody>
      </p:sp>
      <p:sp>
        <p:nvSpPr>
          <p:cNvPr id="7" name="TextBox 6"/>
          <p:cNvSpPr txBox="1"/>
          <p:nvPr/>
        </p:nvSpPr>
        <p:spPr>
          <a:xfrm>
            <a:off x="6263640" y="1737360"/>
            <a:ext cx="5120640" cy="365760"/>
          </a:xfrm>
          <a:prstGeom prst="rect">
            <a:avLst/>
          </a:prstGeom>
          <a:noFill/>
        </p:spPr>
        <p:txBody>
          <a:bodyPr wrap="square" anchor="t" lIns="0" rIns="0" tIns="0" bIns="0">
            <a:spAutoFit/>
          </a:bodyPr>
          <a:lstStyle/>
          <a:p>
            <a:pPr algn="l">
              <a:lnSpc>
                <a:spcPct val="100000"/>
              </a:lnSpc>
            </a:pPr>
            <a:r>
              <a:rPr sz="1700" b="1" i="0">
                <a:solidFill>
                  <a:srgbClr val="16171A"/>
                </a:solidFill>
                <a:latin typeface="Segoe UI Semibold"/>
              </a:rPr>
              <a:t>System Outputs</a:t>
            </a:r>
          </a:p>
        </p:txBody>
      </p:sp>
      <p:cxnSp>
        <p:nvCxnSpPr>
          <p:cNvPr id="8" name="Connector 7"/>
          <p:cNvCxnSpPr/>
          <p:nvPr/>
        </p:nvCxnSpPr>
        <p:spPr>
          <a:xfrm>
            <a:off x="6263640" y="2194560"/>
            <a:ext cx="1097280" cy="0"/>
          </a:xfrm>
          <a:prstGeom prst="line">
            <a:avLst/>
          </a:prstGeom>
          <a:ln w="28575">
            <a:solidFill>
              <a:srgbClr val="E2792D"/>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263640" y="2423160"/>
            <a:ext cx="5120640" cy="2926080"/>
          </a:xfrm>
          <a:prstGeom prst="rect">
            <a:avLst/>
          </a:prstGeom>
          <a:noFill/>
        </p:spPr>
        <p:txBody>
          <a:bodyPr wrap="square" lIns="0" rIns="0" tIns="0" bIns="0">
            <a:spAutoFit/>
          </a:bodyPr>
          <a:lstStyle/>
          <a:p>
            <a:pPr>
              <a:lnSpc>
                <a:spcPct val="112000"/>
              </a:lnSpc>
              <a:spcAft>
                <a:spcPts val="1200"/>
              </a:spcAft>
            </a:pPr>
            <a:r>
              <a:rPr sz="1350" b="0" i="0">
                <a:solidFill>
                  <a:srgbClr val="E2792D"/>
                </a:solidFill>
                <a:latin typeface="Segoe UI"/>
              </a:rPr>
              <a:t>•  </a:t>
            </a:r>
            <a:r>
              <a:rPr sz="1350" b="0" i="0">
                <a:solidFill>
                  <a:srgbClr val="5B5F66"/>
                </a:solidFill>
                <a:latin typeface="Segoe UI"/>
              </a:rPr>
              <a:t>Live bus markers and route polylines on interactive map</a:t>
            </a:r>
          </a:p>
          <a:p>
            <a:pPr>
              <a:lnSpc>
                <a:spcPct val="112000"/>
              </a:lnSpc>
              <a:spcAft>
                <a:spcPts val="1200"/>
              </a:spcAft>
            </a:pPr>
            <a:r>
              <a:rPr sz="1350" b="0" i="0">
                <a:solidFill>
                  <a:srgbClr val="E2792D"/>
                </a:solidFill>
                <a:latin typeface="Segoe UI"/>
              </a:rPr>
              <a:t>•  </a:t>
            </a:r>
            <a:r>
              <a:rPr sz="1350" b="0" i="0">
                <a:solidFill>
                  <a:srgbClr val="5B5F66"/>
                </a:solidFill>
                <a:latin typeface="Segoe UI"/>
              </a:rPr>
              <a:t>Alternative diversion paths highlighted in distinct colors</a:t>
            </a:r>
          </a:p>
          <a:p>
            <a:pPr>
              <a:lnSpc>
                <a:spcPct val="112000"/>
              </a:lnSpc>
              <a:spcAft>
                <a:spcPts val="1200"/>
              </a:spcAft>
            </a:pPr>
            <a:r>
              <a:rPr sz="1350" b="0" i="0">
                <a:solidFill>
                  <a:srgbClr val="E2792D"/>
                </a:solidFill>
                <a:latin typeface="Segoe UI"/>
              </a:rPr>
              <a:t>•  </a:t>
            </a:r>
            <a:r>
              <a:rPr sz="1350" b="0" i="0">
                <a:solidFill>
                  <a:srgbClr val="5B5F66"/>
                </a:solidFill>
                <a:latin typeface="Segoe UI"/>
              </a:rPr>
              <a:t>Proximity alerts and real-time bus status indicators</a:t>
            </a:r>
          </a:p>
          <a:p>
            <a:pPr>
              <a:lnSpc>
                <a:spcPct val="112000"/>
              </a:lnSpc>
              <a:spcAft>
                <a:spcPts val="1200"/>
              </a:spcAft>
            </a:pPr>
            <a:r>
              <a:rPr sz="1350" b="0" i="0">
                <a:solidFill>
                  <a:srgbClr val="E2792D"/>
                </a:solidFill>
                <a:latin typeface="Segoe UI"/>
              </a:rPr>
              <a:t>•  </a:t>
            </a:r>
            <a:r>
              <a:rPr sz="1350" b="0" i="0">
                <a:solidFill>
                  <a:srgbClr val="5B5F66"/>
                </a:solidFill>
                <a:latin typeface="Segoe UI"/>
              </a:rPr>
              <a:t>Activity log and dashboard state updates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640080" cy="320040"/>
          </a:xfrm>
          <a:prstGeom prst="rect">
            <a:avLst/>
          </a:prstGeom>
          <a:noFill/>
        </p:spPr>
        <p:txBody>
          <a:bodyPr wrap="square" anchor="t" lIns="0" rIns="0" tIns="0" bIns="0">
            <a:spAutoFit/>
          </a:bodyPr>
          <a:lstStyle/>
          <a:p>
            <a:pPr algn="r">
              <a:lnSpc>
                <a:spcPct val="100000"/>
              </a:lnSpc>
            </a:pPr>
            <a:r>
              <a:rPr sz="1000" b="0" i="0">
                <a:solidFill>
                  <a:srgbClr val="9A9DA1"/>
                </a:solidFill>
                <a:latin typeface="Segoe UI"/>
              </a:rPr>
              <a:t>8</a:t>
            </a:r>
          </a:p>
        </p:txBody>
      </p:sp>
      <p:sp>
        <p:nvSpPr>
          <p:cNvPr id="3" name="TextBox 2"/>
          <p:cNvSpPr txBox="1"/>
          <p:nvPr/>
        </p:nvSpPr>
        <p:spPr>
          <a:xfrm>
            <a:off x="685800" y="457200"/>
            <a:ext cx="10789920" cy="822960"/>
          </a:xfrm>
          <a:prstGeom prst="rect">
            <a:avLst/>
          </a:prstGeom>
          <a:noFill/>
        </p:spPr>
        <p:txBody>
          <a:bodyPr wrap="square" anchor="t" lIns="0" rIns="0" tIns="0" bIns="0">
            <a:spAutoFit/>
          </a:bodyPr>
          <a:lstStyle/>
          <a:p>
            <a:pPr algn="l">
              <a:lnSpc>
                <a:spcPct val="100000"/>
              </a:lnSpc>
            </a:pPr>
            <a:r>
              <a:rPr sz="3000" b="1" i="0">
                <a:solidFill>
                  <a:srgbClr val="16171A"/>
                </a:solidFill>
                <a:latin typeface="Segoe UI Semibold"/>
              </a:rPr>
              <a:t>Mathematical Formulae — Anti-Bunching Logic</a:t>
            </a:r>
          </a:p>
        </p:txBody>
      </p:sp>
      <p:sp>
        <p:nvSpPr>
          <p:cNvPr id="4" name="TextBox 3"/>
          <p:cNvSpPr txBox="1"/>
          <p:nvPr/>
        </p:nvSpPr>
        <p:spPr>
          <a:xfrm>
            <a:off x="685800" y="1188720"/>
            <a:ext cx="10820095" cy="365760"/>
          </a:xfrm>
          <a:prstGeom prst="rect">
            <a:avLst/>
          </a:prstGeom>
          <a:noFill/>
        </p:spPr>
        <p:txBody>
          <a:bodyPr wrap="square" anchor="t" lIns="0" rIns="0" tIns="0" bIns="0">
            <a:spAutoFit/>
          </a:bodyPr>
          <a:lstStyle/>
          <a:p>
            <a:pPr algn="l">
              <a:lnSpc>
                <a:spcPct val="100000"/>
              </a:lnSpc>
            </a:pPr>
            <a:r>
              <a:rPr sz="1300" b="0" i="0">
                <a:solidFill>
                  <a:srgbClr val="5B5F66"/>
                </a:solidFill>
                <a:latin typeface="Segoe UI"/>
              </a:rPr>
              <a:t>Understanding the core formulas and their application is crucial for effective bus bunching prevention.</a:t>
            </a:r>
          </a:p>
        </p:txBody>
      </p:sp>
      <p:sp>
        <p:nvSpPr>
          <p:cNvPr id="5" name="Rounded Rectangle 4"/>
          <p:cNvSpPr/>
          <p:nvPr/>
        </p:nvSpPr>
        <p:spPr>
          <a:xfrm>
            <a:off x="685800" y="1737360"/>
            <a:ext cx="5120640" cy="3931920"/>
          </a:xfrm>
          <a:prstGeom prst="roundRect">
            <a:avLst>
              <a:gd name="adj" fmla="val 3500"/>
            </a:avLst>
          </a:prstGeom>
          <a:solidFill>
            <a:srgbClr val="DE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93392"/>
            <a:ext cx="4480560" cy="365760"/>
          </a:xfrm>
          <a:prstGeom prst="rect">
            <a:avLst/>
          </a:prstGeom>
          <a:noFill/>
        </p:spPr>
        <p:txBody>
          <a:bodyPr wrap="square" anchor="t" lIns="0" rIns="0" tIns="0" bIns="0">
            <a:spAutoFit/>
          </a:bodyPr>
          <a:lstStyle/>
          <a:p>
            <a:pPr algn="l">
              <a:lnSpc>
                <a:spcPct val="100000"/>
              </a:lnSpc>
            </a:pPr>
            <a:r>
              <a:rPr sz="1500" b="1" i="0">
                <a:solidFill>
                  <a:srgbClr val="16171A"/>
                </a:solidFill>
                <a:latin typeface="Segoe UI Semibold"/>
              </a:rPr>
              <a:t>Core Formulas</a:t>
            </a:r>
          </a:p>
        </p:txBody>
      </p:sp>
      <p:sp>
        <p:nvSpPr>
          <p:cNvPr id="7" name="TextBox 6"/>
          <p:cNvSpPr txBox="1"/>
          <p:nvPr/>
        </p:nvSpPr>
        <p:spPr>
          <a:xfrm>
            <a:off x="1005840" y="2514600"/>
            <a:ext cx="4480560" cy="2926080"/>
          </a:xfrm>
          <a:prstGeom prst="rect">
            <a:avLst/>
          </a:prstGeom>
          <a:noFill/>
        </p:spPr>
        <p:txBody>
          <a:bodyPr wrap="square" lIns="0" rIns="0">
            <a:spAutoFit/>
          </a:bodyPr>
          <a:lstStyle/>
          <a:p>
            <a:pPr>
              <a:lnSpc>
                <a:spcPct val="115000"/>
              </a:lnSpc>
              <a:spcAft>
                <a:spcPts val="1100"/>
              </a:spcAft>
            </a:pPr>
            <a:r>
              <a:rPr sz="1300" b="1" i="0">
                <a:solidFill>
                  <a:srgbClr val="16171A"/>
                </a:solidFill>
                <a:latin typeface="Segoe UI"/>
              </a:rPr>
              <a:t>Target Headway</a:t>
            </a:r>
            <a:r>
              <a:rPr sz="1300" b="0" i="0">
                <a:solidFill>
                  <a:srgbClr val="16171A"/>
                </a:solidFill>
                <a:latin typeface="Segoe UI"/>
              </a:rPr>
              <a:t> = Total Route Distance / Number of Buses</a:t>
            </a:r>
          </a:p>
          <a:p>
            <a:pPr>
              <a:lnSpc>
                <a:spcPct val="115000"/>
              </a:lnSpc>
              <a:spcAft>
                <a:spcPts val="1100"/>
              </a:spcAft>
            </a:pPr>
            <a:r>
              <a:rPr sz="1300" b="1" i="0">
                <a:solidFill>
                  <a:srgbClr val="16171A"/>
                </a:solidFill>
                <a:latin typeface="Segoe UI"/>
              </a:rPr>
              <a:t>Bunching Threshold</a:t>
            </a:r>
            <a:r>
              <a:rPr sz="1300" b="0" i="0">
                <a:solidFill>
                  <a:srgbClr val="16171A"/>
                </a:solidFill>
                <a:latin typeface="Segoe UI"/>
              </a:rPr>
              <a:t> = Target Headway × 0.30</a:t>
            </a:r>
          </a:p>
          <a:p>
            <a:pPr>
              <a:lnSpc>
                <a:spcPct val="115000"/>
              </a:lnSpc>
              <a:spcAft>
                <a:spcPts val="1100"/>
              </a:spcAft>
            </a:pPr>
            <a:r>
              <a:rPr sz="1300" b="1" i="0">
                <a:solidFill>
                  <a:srgbClr val="16171A"/>
                </a:solidFill>
                <a:latin typeface="Segoe UI"/>
              </a:rPr>
              <a:t>Recovery Threshold</a:t>
            </a:r>
            <a:r>
              <a:rPr sz="1300" b="0" i="0">
                <a:solidFill>
                  <a:srgbClr val="16171A"/>
                </a:solidFill>
                <a:latin typeface="Segoe UI"/>
              </a:rPr>
              <a:t> = Target Headway × 0.60</a:t>
            </a:r>
          </a:p>
          <a:p>
            <a:pPr>
              <a:lnSpc>
                <a:spcPct val="115000"/>
              </a:lnSpc>
              <a:spcAft>
                <a:spcPts val="1100"/>
              </a:spcAft>
            </a:pPr>
            <a:r>
              <a:rPr sz="1300" b="1" i="0">
                <a:solidFill>
                  <a:srgbClr val="16171A"/>
                </a:solidFill>
                <a:latin typeface="Segoe UI"/>
              </a:rPr>
              <a:t>Holding Threshold</a:t>
            </a:r>
            <a:r>
              <a:rPr sz="1300" b="0" i="0">
                <a:solidFill>
                  <a:srgbClr val="16171A"/>
                </a:solidFill>
                <a:latin typeface="Segoe UI"/>
              </a:rPr>
              <a:t> = Target Headway × 0.40</a:t>
            </a:r>
          </a:p>
        </p:txBody>
      </p:sp>
      <p:sp>
        <p:nvSpPr>
          <p:cNvPr id="8" name="Rounded Rectangle 7"/>
          <p:cNvSpPr/>
          <p:nvPr/>
        </p:nvSpPr>
        <p:spPr>
          <a:xfrm>
            <a:off x="6263640" y="1737360"/>
            <a:ext cx="5120640" cy="3931920"/>
          </a:xfrm>
          <a:prstGeom prst="roundRect">
            <a:avLst>
              <a:gd name="adj" fmla="val 3500"/>
            </a:avLst>
          </a:prstGeom>
          <a:solidFill>
            <a:srgbClr val="DE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993392"/>
            <a:ext cx="4480560" cy="365760"/>
          </a:xfrm>
          <a:prstGeom prst="rect">
            <a:avLst/>
          </a:prstGeom>
          <a:noFill/>
        </p:spPr>
        <p:txBody>
          <a:bodyPr wrap="square" anchor="t" lIns="0" rIns="0" tIns="0" bIns="0">
            <a:spAutoFit/>
          </a:bodyPr>
          <a:lstStyle/>
          <a:p>
            <a:pPr algn="l">
              <a:lnSpc>
                <a:spcPct val="100000"/>
              </a:lnSpc>
            </a:pPr>
            <a:r>
              <a:rPr sz="1500" b="1" i="0">
                <a:solidFill>
                  <a:srgbClr val="16171A"/>
                </a:solidFill>
                <a:latin typeface="Segoe UI Semibold"/>
              </a:rPr>
              <a:t>Example Calculation</a:t>
            </a:r>
          </a:p>
        </p:txBody>
      </p:sp>
      <p:sp>
        <p:nvSpPr>
          <p:cNvPr id="10" name="TextBox 9"/>
          <p:cNvSpPr txBox="1"/>
          <p:nvPr/>
        </p:nvSpPr>
        <p:spPr>
          <a:xfrm>
            <a:off x="6583680" y="2514600"/>
            <a:ext cx="4480560" cy="2926080"/>
          </a:xfrm>
          <a:prstGeom prst="rect">
            <a:avLst/>
          </a:prstGeom>
          <a:noFill/>
        </p:spPr>
        <p:txBody>
          <a:bodyPr wrap="square" lIns="0" rIns="0">
            <a:spAutoFit/>
          </a:bodyPr>
          <a:lstStyle/>
          <a:p>
            <a:pPr>
              <a:lnSpc>
                <a:spcPct val="115000"/>
              </a:lnSpc>
              <a:spcAft>
                <a:spcPts val="1100"/>
              </a:spcAft>
            </a:pPr>
            <a:r>
              <a:rPr sz="1300" b="0" i="1">
                <a:solidFill>
                  <a:srgbClr val="5B5F66"/>
                </a:solidFill>
                <a:latin typeface="Segoe UI"/>
              </a:rPr>
              <a:t>For a 20 km route with 3 buses:</a:t>
            </a:r>
          </a:p>
          <a:p>
            <a:pPr>
              <a:lnSpc>
                <a:spcPct val="115000"/>
              </a:lnSpc>
              <a:spcAft>
                <a:spcPts val="1100"/>
              </a:spcAft>
            </a:pPr>
            <a:r>
              <a:rPr sz="1300" b="1" i="0">
                <a:solidFill>
                  <a:srgbClr val="16171A"/>
                </a:solidFill>
                <a:latin typeface="Segoe UI"/>
              </a:rPr>
              <a:t>Target Headway</a:t>
            </a:r>
            <a:r>
              <a:rPr sz="1300" b="0" i="0">
                <a:solidFill>
                  <a:srgbClr val="16171A"/>
                </a:solidFill>
                <a:latin typeface="Segoe UI"/>
              </a:rPr>
              <a:t> = 20 / 3 = 6.67 km</a:t>
            </a:r>
          </a:p>
          <a:p>
            <a:pPr>
              <a:lnSpc>
                <a:spcPct val="115000"/>
              </a:lnSpc>
              <a:spcAft>
                <a:spcPts val="1100"/>
              </a:spcAft>
            </a:pPr>
            <a:r>
              <a:rPr sz="1300" b="1" i="0">
                <a:solidFill>
                  <a:srgbClr val="16171A"/>
                </a:solidFill>
                <a:latin typeface="Segoe UI"/>
              </a:rPr>
              <a:t>Bunching Threshold</a:t>
            </a:r>
            <a:r>
              <a:rPr sz="1300" b="0" i="0">
                <a:solidFill>
                  <a:srgbClr val="16171A"/>
                </a:solidFill>
                <a:latin typeface="Segoe UI"/>
              </a:rPr>
              <a:t> = 6.67 × 0.30 = 2.00 km</a:t>
            </a:r>
          </a:p>
          <a:p>
            <a:pPr>
              <a:lnSpc>
                <a:spcPct val="115000"/>
              </a:lnSpc>
              <a:spcAft>
                <a:spcPts val="1100"/>
              </a:spcAft>
            </a:pPr>
            <a:r>
              <a:rPr sz="1300" b="1" i="0">
                <a:solidFill>
                  <a:srgbClr val="16171A"/>
                </a:solidFill>
                <a:latin typeface="Segoe UI"/>
              </a:rPr>
              <a:t>Recovery Threshold</a:t>
            </a:r>
            <a:r>
              <a:rPr sz="1300" b="0" i="0">
                <a:solidFill>
                  <a:srgbClr val="16171A"/>
                </a:solidFill>
                <a:latin typeface="Segoe UI"/>
              </a:rPr>
              <a:t> = 6.67 × 0.60 = 4.00 km</a:t>
            </a:r>
          </a:p>
          <a:p>
            <a:pPr>
              <a:lnSpc>
                <a:spcPct val="115000"/>
              </a:lnSpc>
              <a:spcAft>
                <a:spcPts val="1100"/>
              </a:spcAft>
            </a:pPr>
            <a:r>
              <a:rPr sz="1300" b="1" i="0">
                <a:solidFill>
                  <a:srgbClr val="16171A"/>
                </a:solidFill>
                <a:latin typeface="Segoe UI"/>
              </a:rPr>
              <a:t>Holding Threshold</a:t>
            </a:r>
            <a:r>
              <a:rPr sz="1300" b="0" i="0">
                <a:solidFill>
                  <a:srgbClr val="16171A"/>
                </a:solidFill>
                <a:latin typeface="Segoe UI"/>
              </a:rPr>
              <a:t> = 6.67 × 0.40 = 2.67 km</a:t>
            </a:r>
          </a:p>
        </p:txBody>
      </p:sp>
      <p:sp>
        <p:nvSpPr>
          <p:cNvPr id="11" name="TextBox 10"/>
          <p:cNvSpPr txBox="1"/>
          <p:nvPr/>
        </p:nvSpPr>
        <p:spPr>
          <a:xfrm>
            <a:off x="685800" y="5806440"/>
            <a:ext cx="10820095" cy="365760"/>
          </a:xfrm>
          <a:prstGeom prst="rect">
            <a:avLst/>
          </a:prstGeom>
          <a:noFill/>
        </p:spPr>
        <p:txBody>
          <a:bodyPr wrap="square" anchor="t" lIns="0" rIns="0" tIns="0" bIns="0">
            <a:spAutoFit/>
          </a:bodyPr>
          <a:lstStyle/>
          <a:p>
            <a:pPr algn="l">
              <a:lnSpc>
                <a:spcPct val="100000"/>
              </a:lnSpc>
            </a:pPr>
            <a:r>
              <a:rPr sz="1150" b="0" i="1">
                <a:solidFill>
                  <a:srgbClr val="9A9DA1"/>
                </a:solidFill>
                <a:latin typeface="Segoe UI"/>
              </a:rPr>
              <a:t>These thresholds guide real-time decisions to prevent bunching along the route.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640080" cy="320040"/>
          </a:xfrm>
          <a:prstGeom prst="rect">
            <a:avLst/>
          </a:prstGeom>
          <a:noFill/>
        </p:spPr>
        <p:txBody>
          <a:bodyPr wrap="square" anchor="t" lIns="0" rIns="0" tIns="0" bIns="0">
            <a:spAutoFit/>
          </a:bodyPr>
          <a:lstStyle/>
          <a:p>
            <a:pPr algn="r">
              <a:lnSpc>
                <a:spcPct val="100000"/>
              </a:lnSpc>
            </a:pPr>
            <a:r>
              <a:rPr sz="1000" b="0" i="0">
                <a:solidFill>
                  <a:srgbClr val="9A9DA1"/>
                </a:solidFill>
                <a:latin typeface="Segoe UI"/>
              </a:rPr>
              <a:t>9</a:t>
            </a:r>
          </a:p>
        </p:txBody>
      </p:sp>
      <p:sp>
        <p:nvSpPr>
          <p:cNvPr id="3" name="TextBox 2"/>
          <p:cNvSpPr txBox="1"/>
          <p:nvPr/>
        </p:nvSpPr>
        <p:spPr>
          <a:xfrm>
            <a:off x="685800" y="457200"/>
            <a:ext cx="10789920" cy="822960"/>
          </a:xfrm>
          <a:prstGeom prst="rect">
            <a:avLst/>
          </a:prstGeom>
          <a:noFill/>
        </p:spPr>
        <p:txBody>
          <a:bodyPr wrap="square" anchor="t" lIns="0" rIns="0" tIns="0" bIns="0">
            <a:spAutoFit/>
          </a:bodyPr>
          <a:lstStyle/>
          <a:p>
            <a:pPr algn="l">
              <a:lnSpc>
                <a:spcPct val="100000"/>
              </a:lnSpc>
            </a:pPr>
            <a:r>
              <a:rPr sz="3000" b="1" i="0">
                <a:solidFill>
                  <a:srgbClr val="16171A"/>
                </a:solidFill>
                <a:latin typeface="Segoe UI Semibold"/>
              </a:rPr>
              <a:t>Output Dashboard</a:t>
            </a:r>
          </a:p>
        </p:txBody>
      </p:sp>
      <p:sp>
        <p:nvSpPr>
          <p:cNvPr id="4" name="Rounded Rectangle 3"/>
          <p:cNvSpPr/>
          <p:nvPr/>
        </p:nvSpPr>
        <p:spPr>
          <a:xfrm>
            <a:off x="630936" y="1545336"/>
            <a:ext cx="5138928" cy="3052390"/>
          </a:xfrm>
          <a:prstGeom prst="roundRect">
            <a:avLst>
              <a:gd name="adj" fmla="val 3000"/>
            </a:avLst>
          </a:prstGeom>
          <a:noFill/>
          <a:ln w="12700">
            <a:solidFill>
              <a:srgbClr val="DA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sh_0_1169x684.jpeg"/>
          <p:cNvPicPr>
            <a:picLocks noChangeAspect="1"/>
          </p:cNvPicPr>
          <p:nvPr/>
        </p:nvPicPr>
        <p:blipFill>
          <a:blip r:embed="rId2"/>
          <a:stretch>
            <a:fillRect/>
          </a:stretch>
        </p:blipFill>
        <p:spPr>
          <a:xfrm>
            <a:off x="685800" y="1600200"/>
            <a:ext cx="5029200" cy="2942662"/>
          </a:xfrm>
          <a:prstGeom prst="rect">
            <a:avLst/>
          </a:prstGeom>
        </p:spPr>
      </p:pic>
      <p:sp>
        <p:nvSpPr>
          <p:cNvPr id="6" name="TextBox 5"/>
          <p:cNvSpPr txBox="1"/>
          <p:nvPr/>
        </p:nvSpPr>
        <p:spPr>
          <a:xfrm>
            <a:off x="685800" y="4634302"/>
            <a:ext cx="5029200" cy="274320"/>
          </a:xfrm>
          <a:prstGeom prst="rect">
            <a:avLst/>
          </a:prstGeom>
          <a:noFill/>
        </p:spPr>
        <p:txBody>
          <a:bodyPr wrap="square" anchor="t" lIns="0" rIns="0" tIns="0" bIns="0">
            <a:spAutoFit/>
          </a:bodyPr>
          <a:lstStyle/>
          <a:p>
            <a:pPr algn="l">
              <a:lnSpc>
                <a:spcPct val="100000"/>
              </a:lnSpc>
            </a:pPr>
            <a:r>
              <a:rPr sz="1150" b="0" i="1">
                <a:solidFill>
                  <a:srgbClr val="9A9DA1"/>
                </a:solidFill>
                <a:latin typeface="Segoe UI"/>
              </a:rPr>
              <a:t>Sample output – 01 (live map)</a:t>
            </a:r>
          </a:p>
        </p:txBody>
      </p:sp>
      <p:sp>
        <p:nvSpPr>
          <p:cNvPr id="7" name="Rounded Rectangle 6"/>
          <p:cNvSpPr/>
          <p:nvPr/>
        </p:nvSpPr>
        <p:spPr>
          <a:xfrm>
            <a:off x="6071616" y="1545336"/>
            <a:ext cx="2075688" cy="3615241"/>
          </a:xfrm>
          <a:prstGeom prst="roundRect">
            <a:avLst>
              <a:gd name="adj" fmla="val 3000"/>
            </a:avLst>
          </a:prstGeom>
          <a:noFill/>
          <a:ln w="12700">
            <a:solidFill>
              <a:srgbClr val="DA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ash_1_438x781.jpeg"/>
          <p:cNvPicPr>
            <a:picLocks noChangeAspect="1"/>
          </p:cNvPicPr>
          <p:nvPr/>
        </p:nvPicPr>
        <p:blipFill>
          <a:blip r:embed="rId3"/>
          <a:stretch>
            <a:fillRect/>
          </a:stretch>
        </p:blipFill>
        <p:spPr>
          <a:xfrm>
            <a:off x="6126480" y="1600200"/>
            <a:ext cx="1965960" cy="3505513"/>
          </a:xfrm>
          <a:prstGeom prst="rect">
            <a:avLst/>
          </a:prstGeom>
        </p:spPr>
      </p:pic>
      <p:sp>
        <p:nvSpPr>
          <p:cNvPr id="9" name="TextBox 8"/>
          <p:cNvSpPr txBox="1"/>
          <p:nvPr/>
        </p:nvSpPr>
        <p:spPr>
          <a:xfrm>
            <a:off x="6126480" y="5197153"/>
            <a:ext cx="1965960" cy="274320"/>
          </a:xfrm>
          <a:prstGeom prst="rect">
            <a:avLst/>
          </a:prstGeom>
          <a:noFill/>
        </p:spPr>
        <p:txBody>
          <a:bodyPr wrap="square" anchor="t" lIns="0" rIns="0" tIns="0" bIns="0">
            <a:spAutoFit/>
          </a:bodyPr>
          <a:lstStyle/>
          <a:p>
            <a:pPr algn="l">
              <a:lnSpc>
                <a:spcPct val="100000"/>
              </a:lnSpc>
            </a:pPr>
            <a:r>
              <a:rPr sz="1150" b="0" i="1">
                <a:solidFill>
                  <a:srgbClr val="9A9DA1"/>
                </a:solidFill>
                <a:latin typeface="Segoe UI"/>
              </a:rPr>
              <a:t>Sample output – 02 (bus list)</a:t>
            </a:r>
          </a:p>
        </p:txBody>
      </p:sp>
      <p:sp>
        <p:nvSpPr>
          <p:cNvPr id="10" name="TextBox 9"/>
          <p:cNvSpPr txBox="1"/>
          <p:nvPr/>
        </p:nvSpPr>
        <p:spPr>
          <a:xfrm>
            <a:off x="8549640" y="1600200"/>
            <a:ext cx="2956255" cy="365760"/>
          </a:xfrm>
          <a:prstGeom prst="rect">
            <a:avLst/>
          </a:prstGeom>
          <a:noFill/>
        </p:spPr>
        <p:txBody>
          <a:bodyPr wrap="square" anchor="t" lIns="0" rIns="0" tIns="0" bIns="0">
            <a:spAutoFit/>
          </a:bodyPr>
          <a:lstStyle/>
          <a:p>
            <a:pPr algn="l">
              <a:lnSpc>
                <a:spcPct val="100000"/>
              </a:lnSpc>
            </a:pPr>
            <a:r>
              <a:rPr sz="1600" b="1" i="0">
                <a:solidFill>
                  <a:srgbClr val="16171A"/>
                </a:solidFill>
                <a:latin typeface="Segoe UI Semibold"/>
              </a:rPr>
              <a:t>Dashboard Features</a:t>
            </a:r>
          </a:p>
        </p:txBody>
      </p:sp>
      <p:sp>
        <p:nvSpPr>
          <p:cNvPr id="11" name="TextBox 10"/>
          <p:cNvSpPr txBox="1"/>
          <p:nvPr/>
        </p:nvSpPr>
        <p:spPr>
          <a:xfrm>
            <a:off x="8549640" y="2103120"/>
            <a:ext cx="2956255" cy="4480560"/>
          </a:xfrm>
          <a:prstGeom prst="rect">
            <a:avLst/>
          </a:prstGeom>
          <a:noFill/>
        </p:spPr>
        <p:txBody>
          <a:bodyPr wrap="square" lIns="0" rIns="0" tIns="0" bIns="0">
            <a:spAutoFit/>
          </a:bodyPr>
          <a:lstStyle/>
          <a:p>
            <a:pPr>
              <a:lnSpc>
                <a:spcPct val="112000"/>
              </a:lnSpc>
              <a:spcAft>
                <a:spcPts val="700"/>
              </a:spcAft>
            </a:pPr>
            <a:r>
              <a:rPr sz="1100" b="0" i="0">
                <a:solidFill>
                  <a:srgbClr val="1E9E6B"/>
                </a:solidFill>
                <a:latin typeface="Segoe UI"/>
              </a:rPr>
              <a:t>•  </a:t>
            </a:r>
            <a:r>
              <a:rPr sz="1100" b="0" i="0">
                <a:solidFill>
                  <a:srgbClr val="5B5F66"/>
                </a:solidFill>
                <a:latin typeface="Segoe UI"/>
              </a:rPr>
              <a:t>Live map with bus markers, route line, and stop labels</a:t>
            </a:r>
          </a:p>
          <a:p>
            <a:pPr>
              <a:lnSpc>
                <a:spcPct val="112000"/>
              </a:lnSpc>
              <a:spcAft>
                <a:spcPts val="700"/>
              </a:spcAft>
            </a:pPr>
            <a:r>
              <a:rPr sz="1100" b="0" i="0">
                <a:solidFill>
                  <a:srgbClr val="1E9E6B"/>
                </a:solidFill>
                <a:latin typeface="Segoe UI"/>
              </a:rPr>
              <a:t>•  </a:t>
            </a:r>
            <a:r>
              <a:rPr sz="1100" b="0" i="0">
                <a:solidFill>
                  <a:srgbClr val="5B5F66"/>
                </a:solidFill>
                <a:latin typeface="Segoe UI"/>
              </a:rPr>
              <a:t>Connection status indicator (connected / disconnected)</a:t>
            </a:r>
          </a:p>
          <a:p>
            <a:pPr>
              <a:lnSpc>
                <a:spcPct val="112000"/>
              </a:lnSpc>
              <a:spcAft>
                <a:spcPts val="700"/>
              </a:spcAft>
            </a:pPr>
            <a:r>
              <a:rPr sz="1100" b="0" i="0">
                <a:solidFill>
                  <a:srgbClr val="1E9E6B"/>
                </a:solidFill>
                <a:latin typeface="Segoe UI"/>
              </a:rPr>
              <a:t>•  </a:t>
            </a:r>
            <a:r>
              <a:rPr sz="1100" b="0" i="0">
                <a:solidFill>
                  <a:srgbClr val="5B5F66"/>
                </a:solidFill>
                <a:latin typeface="Segoe UI"/>
              </a:rPr>
              <a:t>AI Control ON/OFF toggle with live θ / speed-gain tuning sliders</a:t>
            </a:r>
          </a:p>
          <a:p>
            <a:pPr>
              <a:lnSpc>
                <a:spcPct val="112000"/>
              </a:lnSpc>
              <a:spcAft>
                <a:spcPts val="700"/>
              </a:spcAft>
            </a:pPr>
            <a:r>
              <a:rPr sz="1100" b="0" i="0">
                <a:solidFill>
                  <a:srgbClr val="1E9E6B"/>
                </a:solidFill>
                <a:latin typeface="Segoe UI"/>
              </a:rPr>
              <a:t>•  </a:t>
            </a:r>
            <a:r>
              <a:rPr sz="1100" b="0" i="0">
                <a:solidFill>
                  <a:srgbClr val="5B5F66"/>
                </a:solidFill>
                <a:latin typeface="Segoe UI"/>
              </a:rPr>
              <a:t>Bunching alert banner when buses cluster together</a:t>
            </a:r>
          </a:p>
          <a:p>
            <a:pPr>
              <a:lnSpc>
                <a:spcPct val="112000"/>
              </a:lnSpc>
              <a:spcAft>
                <a:spcPts val="700"/>
              </a:spcAft>
            </a:pPr>
            <a:r>
              <a:rPr sz="1100" b="0" i="0">
                <a:solidFill>
                  <a:srgbClr val="1E9E6B"/>
                </a:solidFill>
                <a:latin typeface="Segoe UI"/>
              </a:rPr>
              <a:t>•  </a:t>
            </a:r>
            <a:r>
              <a:rPr sz="1100" b="0" i="0">
                <a:solidFill>
                  <a:srgbClr val="5B5F66"/>
                </a:solidFill>
                <a:latin typeface="Segoe UI"/>
              </a:rPr>
              <a:t>Live decision feed — hold / no-action / speed-ease / speed-boost</a:t>
            </a:r>
          </a:p>
          <a:p>
            <a:pPr>
              <a:lnSpc>
                <a:spcPct val="112000"/>
              </a:lnSpc>
              <a:spcAft>
                <a:spcPts val="700"/>
              </a:spcAft>
            </a:pPr>
            <a:r>
              <a:rPr sz="1100" b="0" i="0">
                <a:solidFill>
                  <a:srgbClr val="1E9E6B"/>
                </a:solidFill>
                <a:latin typeface="Segoe UI"/>
              </a:rPr>
              <a:t>•  </a:t>
            </a:r>
            <a:r>
              <a:rPr sz="1100" b="0" i="0">
                <a:solidFill>
                  <a:srgbClr val="5B5F66"/>
                </a:solidFill>
                <a:latin typeface="Segoe UI"/>
              </a:rPr>
              <a:t>Live metric tiles and rolling CV chart with control-toggle markers</a:t>
            </a:r>
          </a:p>
          <a:p>
            <a:pPr>
              <a:lnSpc>
                <a:spcPct val="112000"/>
              </a:lnSpc>
              <a:spcAft>
                <a:spcPts val="700"/>
              </a:spcAft>
            </a:pPr>
            <a:r>
              <a:rPr sz="1100" b="0" i="0">
                <a:solidFill>
                  <a:srgbClr val="1E9E6B"/>
                </a:solidFill>
                <a:latin typeface="Segoe UI"/>
              </a:rPr>
              <a:t>•  </a:t>
            </a:r>
            <a:r>
              <a:rPr sz="1100" b="0" i="0">
                <a:solidFill>
                  <a:srgbClr val="5B5F66"/>
                </a:solidFill>
                <a:latin typeface="Segoe UI"/>
              </a:rPr>
              <a:t>Driver console — full-screen hold/go instructions per bus</a:t>
            </a:r>
          </a:p>
          <a:p>
            <a:pPr>
              <a:lnSpc>
                <a:spcPct val="112000"/>
              </a:lnSpc>
              <a:spcAft>
                <a:spcPts val="700"/>
              </a:spcAft>
            </a:pPr>
            <a:r>
              <a:rPr sz="1100" b="0" i="0">
                <a:solidFill>
                  <a:srgbClr val="1E9E6B"/>
                </a:solidFill>
                <a:latin typeface="Segoe UI"/>
              </a:rPr>
              <a:t>•  </a:t>
            </a:r>
            <a:r>
              <a:rPr sz="1100" b="0" i="0">
                <a:solidFill>
                  <a:srgbClr val="5B5F66"/>
                </a:solidFill>
                <a:latin typeface="Segoe UI"/>
              </a:rPr>
              <a:t>Passenger view — live stop ETAs and holding/easing status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640080" cy="320040"/>
          </a:xfrm>
          <a:prstGeom prst="rect">
            <a:avLst/>
          </a:prstGeom>
          <a:noFill/>
        </p:spPr>
        <p:txBody>
          <a:bodyPr wrap="square" anchor="t" lIns="0" rIns="0" tIns="0" bIns="0">
            <a:spAutoFit/>
          </a:bodyPr>
          <a:lstStyle/>
          <a:p>
            <a:pPr algn="r">
              <a:lnSpc>
                <a:spcPct val="100000"/>
              </a:lnSpc>
            </a:pPr>
            <a:r>
              <a:rPr sz="1000" b="0" i="0">
                <a:solidFill>
                  <a:srgbClr val="9A9DA1"/>
                </a:solidFill>
                <a:latin typeface="Segoe UI"/>
              </a:rPr>
              <a:t>10</a:t>
            </a:r>
          </a:p>
        </p:txBody>
      </p:sp>
      <p:sp>
        <p:nvSpPr>
          <p:cNvPr id="3" name="TextBox 2"/>
          <p:cNvSpPr txBox="1"/>
          <p:nvPr/>
        </p:nvSpPr>
        <p:spPr>
          <a:xfrm>
            <a:off x="685800" y="457200"/>
            <a:ext cx="10789920" cy="822960"/>
          </a:xfrm>
          <a:prstGeom prst="rect">
            <a:avLst/>
          </a:prstGeom>
          <a:noFill/>
        </p:spPr>
        <p:txBody>
          <a:bodyPr wrap="square" anchor="t" lIns="0" rIns="0" tIns="0" bIns="0">
            <a:spAutoFit/>
          </a:bodyPr>
          <a:lstStyle/>
          <a:p>
            <a:pPr algn="l">
              <a:lnSpc>
                <a:spcPct val="100000"/>
              </a:lnSpc>
            </a:pPr>
            <a:r>
              <a:rPr sz="3000" b="1" i="0">
                <a:solidFill>
                  <a:srgbClr val="16171A"/>
                </a:solidFill>
                <a:latin typeface="Segoe UI Semibold"/>
              </a:rPr>
              <a:t>Future Work</a:t>
            </a:r>
          </a:p>
        </p:txBody>
      </p:sp>
      <p:sp>
        <p:nvSpPr>
          <p:cNvPr id="4" name="TextBox 3"/>
          <p:cNvSpPr txBox="1"/>
          <p:nvPr/>
        </p:nvSpPr>
        <p:spPr>
          <a:xfrm>
            <a:off x="685800" y="1600200"/>
            <a:ext cx="5074920" cy="274320"/>
          </a:xfrm>
          <a:prstGeom prst="rect">
            <a:avLst/>
          </a:prstGeom>
          <a:noFill/>
        </p:spPr>
        <p:txBody>
          <a:bodyPr wrap="square" anchor="t" lIns="0" rIns="0" tIns="0" bIns="0">
            <a:spAutoFit/>
          </a:bodyPr>
          <a:lstStyle/>
          <a:p>
            <a:pPr algn="l">
              <a:lnSpc>
                <a:spcPct val="100000"/>
              </a:lnSpc>
            </a:pPr>
            <a:r>
              <a:rPr sz="1200" b="0" i="0">
                <a:solidFill>
                  <a:srgbClr val="9A9DA1"/>
                </a:solidFill>
                <a:latin typeface="Segoe UI"/>
              </a:rPr>
              <a:t>01</a:t>
            </a:r>
          </a:p>
        </p:txBody>
      </p:sp>
      <p:cxnSp>
        <p:nvCxnSpPr>
          <p:cNvPr id="5" name="Connector 4"/>
          <p:cNvCxnSpPr/>
          <p:nvPr/>
        </p:nvCxnSpPr>
        <p:spPr>
          <a:xfrm>
            <a:off x="685800" y="1911096"/>
            <a:ext cx="5074920" cy="0"/>
          </a:xfrm>
          <a:prstGeom prst="line">
            <a:avLst/>
          </a:prstGeom>
          <a:ln w="25400">
            <a:solidFill>
              <a:srgbClr val="1E9E6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2057400"/>
            <a:ext cx="5074920" cy="365760"/>
          </a:xfrm>
          <a:prstGeom prst="rect">
            <a:avLst/>
          </a:prstGeom>
          <a:noFill/>
        </p:spPr>
        <p:txBody>
          <a:bodyPr wrap="square" anchor="t" lIns="0" rIns="0" tIns="0" bIns="0">
            <a:spAutoFit/>
          </a:bodyPr>
          <a:lstStyle/>
          <a:p>
            <a:pPr algn="l">
              <a:lnSpc>
                <a:spcPct val="100000"/>
              </a:lnSpc>
            </a:pPr>
            <a:r>
              <a:rPr sz="1600" b="1" i="0">
                <a:solidFill>
                  <a:srgbClr val="16171A"/>
                </a:solidFill>
                <a:latin typeface="Segoe UI Semibold"/>
              </a:rPr>
              <a:t>ML-Based Bunching Prediction</a:t>
            </a:r>
          </a:p>
        </p:txBody>
      </p:sp>
      <p:sp>
        <p:nvSpPr>
          <p:cNvPr id="7" name="TextBox 6"/>
          <p:cNvSpPr txBox="1"/>
          <p:nvPr/>
        </p:nvSpPr>
        <p:spPr>
          <a:xfrm>
            <a:off x="685800" y="2468880"/>
            <a:ext cx="5074920" cy="457200"/>
          </a:xfrm>
          <a:prstGeom prst="rect">
            <a:avLst/>
          </a:prstGeom>
          <a:noFill/>
        </p:spPr>
        <p:txBody>
          <a:bodyPr wrap="square" anchor="t" lIns="0" rIns="0" tIns="0" bIns="0">
            <a:spAutoFit/>
          </a:bodyPr>
          <a:lstStyle/>
          <a:p>
            <a:pPr algn="l">
              <a:lnSpc>
                <a:spcPct val="120000"/>
              </a:lnSpc>
            </a:pPr>
            <a:r>
              <a:rPr sz="1250" b="0" i="0">
                <a:solidFill>
                  <a:srgbClr val="5B5F66"/>
                </a:solidFill>
                <a:latin typeface="Segoe UI"/>
              </a:rPr>
              <a:t>Train models to forecast bunching events before they occur using historical and live data.</a:t>
            </a:r>
          </a:p>
        </p:txBody>
      </p:sp>
      <p:sp>
        <p:nvSpPr>
          <p:cNvPr id="8" name="TextBox 7"/>
          <p:cNvSpPr txBox="1"/>
          <p:nvPr/>
        </p:nvSpPr>
        <p:spPr>
          <a:xfrm>
            <a:off x="6309360" y="1600200"/>
            <a:ext cx="5074920" cy="274320"/>
          </a:xfrm>
          <a:prstGeom prst="rect">
            <a:avLst/>
          </a:prstGeom>
          <a:noFill/>
        </p:spPr>
        <p:txBody>
          <a:bodyPr wrap="square" anchor="t" lIns="0" rIns="0" tIns="0" bIns="0">
            <a:spAutoFit/>
          </a:bodyPr>
          <a:lstStyle/>
          <a:p>
            <a:pPr algn="l">
              <a:lnSpc>
                <a:spcPct val="100000"/>
              </a:lnSpc>
            </a:pPr>
            <a:r>
              <a:rPr sz="1200" b="0" i="0">
                <a:solidFill>
                  <a:srgbClr val="9A9DA1"/>
                </a:solidFill>
                <a:latin typeface="Segoe UI"/>
              </a:rPr>
              <a:t>02</a:t>
            </a:r>
          </a:p>
        </p:txBody>
      </p:sp>
      <p:cxnSp>
        <p:nvCxnSpPr>
          <p:cNvPr id="9" name="Connector 8"/>
          <p:cNvCxnSpPr/>
          <p:nvPr/>
        </p:nvCxnSpPr>
        <p:spPr>
          <a:xfrm>
            <a:off x="6309360" y="1911096"/>
            <a:ext cx="5074920" cy="0"/>
          </a:xfrm>
          <a:prstGeom prst="line">
            <a:avLst/>
          </a:prstGeom>
          <a:ln w="25400">
            <a:solidFill>
              <a:srgbClr val="E2792D"/>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309360" y="2057400"/>
            <a:ext cx="5074920" cy="365760"/>
          </a:xfrm>
          <a:prstGeom prst="rect">
            <a:avLst/>
          </a:prstGeom>
          <a:noFill/>
        </p:spPr>
        <p:txBody>
          <a:bodyPr wrap="square" anchor="t" lIns="0" rIns="0" tIns="0" bIns="0">
            <a:spAutoFit/>
          </a:bodyPr>
          <a:lstStyle/>
          <a:p>
            <a:pPr algn="l">
              <a:lnSpc>
                <a:spcPct val="100000"/>
              </a:lnSpc>
            </a:pPr>
            <a:r>
              <a:rPr sz="1600" b="1" i="0">
                <a:solidFill>
                  <a:srgbClr val="16171A"/>
                </a:solidFill>
                <a:latin typeface="Segoe UI Semibold"/>
              </a:rPr>
              <a:t>Real GPS Hardware Integration</a:t>
            </a:r>
          </a:p>
        </p:txBody>
      </p:sp>
      <p:sp>
        <p:nvSpPr>
          <p:cNvPr id="11" name="TextBox 10"/>
          <p:cNvSpPr txBox="1"/>
          <p:nvPr/>
        </p:nvSpPr>
        <p:spPr>
          <a:xfrm>
            <a:off x="6309360" y="2468880"/>
            <a:ext cx="5074920" cy="457200"/>
          </a:xfrm>
          <a:prstGeom prst="rect">
            <a:avLst/>
          </a:prstGeom>
          <a:noFill/>
        </p:spPr>
        <p:txBody>
          <a:bodyPr wrap="square" anchor="t" lIns="0" rIns="0" tIns="0" bIns="0">
            <a:spAutoFit/>
          </a:bodyPr>
          <a:lstStyle/>
          <a:p>
            <a:pPr algn="l">
              <a:lnSpc>
                <a:spcPct val="120000"/>
              </a:lnSpc>
            </a:pPr>
            <a:r>
              <a:rPr sz="1250" b="0" i="0">
                <a:solidFill>
                  <a:srgbClr val="5B5F66"/>
                </a:solidFill>
                <a:latin typeface="Segoe UI"/>
              </a:rPr>
              <a:t>Replace simulation with physical GPS devices installed on Tumkur–Bangalore buses.</a:t>
            </a:r>
          </a:p>
        </p:txBody>
      </p:sp>
      <p:sp>
        <p:nvSpPr>
          <p:cNvPr id="12" name="TextBox 11"/>
          <p:cNvSpPr txBox="1"/>
          <p:nvPr/>
        </p:nvSpPr>
        <p:spPr>
          <a:xfrm>
            <a:off x="685800" y="3154680"/>
            <a:ext cx="5074920" cy="274320"/>
          </a:xfrm>
          <a:prstGeom prst="rect">
            <a:avLst/>
          </a:prstGeom>
          <a:noFill/>
        </p:spPr>
        <p:txBody>
          <a:bodyPr wrap="square" anchor="t" lIns="0" rIns="0" tIns="0" bIns="0">
            <a:spAutoFit/>
          </a:bodyPr>
          <a:lstStyle/>
          <a:p>
            <a:pPr algn="l">
              <a:lnSpc>
                <a:spcPct val="100000"/>
              </a:lnSpc>
            </a:pPr>
            <a:r>
              <a:rPr sz="1200" b="0" i="0">
                <a:solidFill>
                  <a:srgbClr val="9A9DA1"/>
                </a:solidFill>
                <a:latin typeface="Segoe UI"/>
              </a:rPr>
              <a:t>03</a:t>
            </a:r>
          </a:p>
        </p:txBody>
      </p:sp>
      <p:cxnSp>
        <p:nvCxnSpPr>
          <p:cNvPr id="13" name="Connector 12"/>
          <p:cNvCxnSpPr/>
          <p:nvPr/>
        </p:nvCxnSpPr>
        <p:spPr>
          <a:xfrm>
            <a:off x="685800" y="3465576"/>
            <a:ext cx="5074920" cy="0"/>
          </a:xfrm>
          <a:prstGeom prst="line">
            <a:avLst/>
          </a:prstGeom>
          <a:ln w="25400">
            <a:solidFill>
              <a:srgbClr val="1E9E6B"/>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3611880"/>
            <a:ext cx="5074920" cy="365760"/>
          </a:xfrm>
          <a:prstGeom prst="rect">
            <a:avLst/>
          </a:prstGeom>
          <a:noFill/>
        </p:spPr>
        <p:txBody>
          <a:bodyPr wrap="square" anchor="t" lIns="0" rIns="0" tIns="0" bIns="0">
            <a:spAutoFit/>
          </a:bodyPr>
          <a:lstStyle/>
          <a:p>
            <a:pPr algn="l">
              <a:lnSpc>
                <a:spcPct val="100000"/>
              </a:lnSpc>
            </a:pPr>
            <a:r>
              <a:rPr sz="1600" b="1" i="0">
                <a:solidFill>
                  <a:srgbClr val="16171A"/>
                </a:solidFill>
                <a:latin typeface="Segoe UI Semibold"/>
              </a:rPr>
              <a:t>Passenger-Facing Mobile App</a:t>
            </a:r>
          </a:p>
        </p:txBody>
      </p:sp>
      <p:sp>
        <p:nvSpPr>
          <p:cNvPr id="15" name="TextBox 14"/>
          <p:cNvSpPr txBox="1"/>
          <p:nvPr/>
        </p:nvSpPr>
        <p:spPr>
          <a:xfrm>
            <a:off x="685800" y="4023360"/>
            <a:ext cx="5074920" cy="457200"/>
          </a:xfrm>
          <a:prstGeom prst="rect">
            <a:avLst/>
          </a:prstGeom>
          <a:noFill/>
        </p:spPr>
        <p:txBody>
          <a:bodyPr wrap="square" anchor="t" lIns="0" rIns="0" tIns="0" bIns="0">
            <a:spAutoFit/>
          </a:bodyPr>
          <a:lstStyle/>
          <a:p>
            <a:pPr algn="l">
              <a:lnSpc>
                <a:spcPct val="120000"/>
              </a:lnSpc>
            </a:pPr>
            <a:r>
              <a:rPr sz="1250" b="0" i="0">
                <a:solidFill>
                  <a:srgbClr val="5B5F66"/>
                </a:solidFill>
                <a:latin typeface="Segoe UI"/>
              </a:rPr>
              <a:t>Extend the system with a public app showing live arrivals and service alerts.</a:t>
            </a:r>
          </a:p>
        </p:txBody>
      </p:sp>
      <p:sp>
        <p:nvSpPr>
          <p:cNvPr id="16" name="TextBox 15"/>
          <p:cNvSpPr txBox="1"/>
          <p:nvPr/>
        </p:nvSpPr>
        <p:spPr>
          <a:xfrm>
            <a:off x="6309360" y="3154680"/>
            <a:ext cx="5074920" cy="274320"/>
          </a:xfrm>
          <a:prstGeom prst="rect">
            <a:avLst/>
          </a:prstGeom>
          <a:noFill/>
        </p:spPr>
        <p:txBody>
          <a:bodyPr wrap="square" anchor="t" lIns="0" rIns="0" tIns="0" bIns="0">
            <a:spAutoFit/>
          </a:bodyPr>
          <a:lstStyle/>
          <a:p>
            <a:pPr algn="l">
              <a:lnSpc>
                <a:spcPct val="100000"/>
              </a:lnSpc>
            </a:pPr>
            <a:r>
              <a:rPr sz="1200" b="0" i="0">
                <a:solidFill>
                  <a:srgbClr val="9A9DA1"/>
                </a:solidFill>
                <a:latin typeface="Segoe UI"/>
              </a:rPr>
              <a:t>04</a:t>
            </a:r>
          </a:p>
        </p:txBody>
      </p:sp>
      <p:cxnSp>
        <p:nvCxnSpPr>
          <p:cNvPr id="17" name="Connector 16"/>
          <p:cNvCxnSpPr/>
          <p:nvPr/>
        </p:nvCxnSpPr>
        <p:spPr>
          <a:xfrm>
            <a:off x="6309360" y="3465576"/>
            <a:ext cx="5074920" cy="0"/>
          </a:xfrm>
          <a:prstGeom prst="line">
            <a:avLst/>
          </a:prstGeom>
          <a:ln w="25400">
            <a:solidFill>
              <a:srgbClr val="E2792D"/>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309360" y="3611880"/>
            <a:ext cx="5074920" cy="365760"/>
          </a:xfrm>
          <a:prstGeom prst="rect">
            <a:avLst/>
          </a:prstGeom>
          <a:noFill/>
        </p:spPr>
        <p:txBody>
          <a:bodyPr wrap="square" anchor="t" lIns="0" rIns="0" tIns="0" bIns="0">
            <a:spAutoFit/>
          </a:bodyPr>
          <a:lstStyle/>
          <a:p>
            <a:pPr algn="l">
              <a:lnSpc>
                <a:spcPct val="100000"/>
              </a:lnSpc>
            </a:pPr>
            <a:r>
              <a:rPr sz="1600" b="1" i="0">
                <a:solidFill>
                  <a:srgbClr val="16171A"/>
                </a:solidFill>
                <a:latin typeface="Segoe UI Semibold"/>
              </a:rPr>
              <a:t>Multi-Route &amp; City Scaling</a:t>
            </a:r>
          </a:p>
        </p:txBody>
      </p:sp>
      <p:sp>
        <p:nvSpPr>
          <p:cNvPr id="19" name="TextBox 18"/>
          <p:cNvSpPr txBox="1"/>
          <p:nvPr/>
        </p:nvSpPr>
        <p:spPr>
          <a:xfrm>
            <a:off x="6309360" y="4023360"/>
            <a:ext cx="5074920" cy="457200"/>
          </a:xfrm>
          <a:prstGeom prst="rect">
            <a:avLst/>
          </a:prstGeom>
          <a:noFill/>
        </p:spPr>
        <p:txBody>
          <a:bodyPr wrap="square" anchor="t" lIns="0" rIns="0" tIns="0" bIns="0">
            <a:spAutoFit/>
          </a:bodyPr>
          <a:lstStyle/>
          <a:p>
            <a:pPr algn="l">
              <a:lnSpc>
                <a:spcPct val="120000"/>
              </a:lnSpc>
            </a:pPr>
            <a:r>
              <a:rPr sz="1250" b="0" i="0">
                <a:solidFill>
                  <a:srgbClr val="5B5F66"/>
                </a:solidFill>
                <a:latin typeface="Segoe UI"/>
              </a:rPr>
              <a:t>Generalize the platform to support multiple routes and expand to city-wide deployment.</a:t>
            </a:r>
          </a:p>
        </p:txBody>
      </p:sp>
      <p:sp>
        <p:nvSpPr>
          <p:cNvPr id="20" name="TextBox 19"/>
          <p:cNvSpPr txBox="1"/>
          <p:nvPr/>
        </p:nvSpPr>
        <p:spPr>
          <a:xfrm>
            <a:off x="685800" y="4709160"/>
            <a:ext cx="5074920" cy="274320"/>
          </a:xfrm>
          <a:prstGeom prst="rect">
            <a:avLst/>
          </a:prstGeom>
          <a:noFill/>
        </p:spPr>
        <p:txBody>
          <a:bodyPr wrap="square" anchor="t" lIns="0" rIns="0" tIns="0" bIns="0">
            <a:spAutoFit/>
          </a:bodyPr>
          <a:lstStyle/>
          <a:p>
            <a:pPr algn="l">
              <a:lnSpc>
                <a:spcPct val="100000"/>
              </a:lnSpc>
            </a:pPr>
            <a:r>
              <a:rPr sz="1200" b="0" i="0">
                <a:solidFill>
                  <a:srgbClr val="9A9DA1"/>
                </a:solidFill>
                <a:latin typeface="Segoe UI"/>
              </a:rPr>
              <a:t>05</a:t>
            </a:r>
          </a:p>
        </p:txBody>
      </p:sp>
      <p:cxnSp>
        <p:nvCxnSpPr>
          <p:cNvPr id="21" name="Connector 20"/>
          <p:cNvCxnSpPr/>
          <p:nvPr/>
        </p:nvCxnSpPr>
        <p:spPr>
          <a:xfrm>
            <a:off x="685800" y="5020056"/>
            <a:ext cx="5074920" cy="0"/>
          </a:xfrm>
          <a:prstGeom prst="line">
            <a:avLst/>
          </a:prstGeom>
          <a:ln w="25400">
            <a:solidFill>
              <a:srgbClr val="1E9E6B"/>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85800" y="5166360"/>
            <a:ext cx="5074920" cy="365760"/>
          </a:xfrm>
          <a:prstGeom prst="rect">
            <a:avLst/>
          </a:prstGeom>
          <a:noFill/>
        </p:spPr>
        <p:txBody>
          <a:bodyPr wrap="square" anchor="t" lIns="0" rIns="0" tIns="0" bIns="0">
            <a:spAutoFit/>
          </a:bodyPr>
          <a:lstStyle/>
          <a:p>
            <a:pPr algn="l">
              <a:lnSpc>
                <a:spcPct val="100000"/>
              </a:lnSpc>
            </a:pPr>
            <a:r>
              <a:rPr sz="1600" b="1" i="0">
                <a:solidFill>
                  <a:srgbClr val="16171A"/>
                </a:solidFill>
                <a:latin typeface="Segoe UI Semibold"/>
              </a:rPr>
              <a:t>Alert &amp; Monitoring</a:t>
            </a:r>
          </a:p>
        </p:txBody>
      </p:sp>
      <p:sp>
        <p:nvSpPr>
          <p:cNvPr id="23" name="TextBox 22"/>
          <p:cNvSpPr txBox="1"/>
          <p:nvPr/>
        </p:nvSpPr>
        <p:spPr>
          <a:xfrm>
            <a:off x="685800" y="5577840"/>
            <a:ext cx="5074920" cy="457200"/>
          </a:xfrm>
          <a:prstGeom prst="rect">
            <a:avLst/>
          </a:prstGeom>
          <a:noFill/>
        </p:spPr>
        <p:txBody>
          <a:bodyPr wrap="square" anchor="t" lIns="0" rIns="0" tIns="0" bIns="0">
            <a:spAutoFit/>
          </a:bodyPr>
          <a:lstStyle/>
          <a:p>
            <a:pPr algn="l">
              <a:lnSpc>
                <a:spcPct val="120000"/>
              </a:lnSpc>
            </a:pPr>
            <a:r>
              <a:rPr sz="1250" b="0" i="0">
                <a:solidFill>
                  <a:srgbClr val="5B5F66"/>
                </a:solidFill>
                <a:latin typeface="Segoe UI"/>
              </a:rPr>
              <a:t>Detects bunching events and logs all system activity in real 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640080" cy="320040"/>
          </a:xfrm>
          <a:prstGeom prst="rect">
            <a:avLst/>
          </a:prstGeom>
          <a:noFill/>
        </p:spPr>
        <p:txBody>
          <a:bodyPr wrap="square" anchor="t" lIns="0" rIns="0" tIns="0" bIns="0">
            <a:spAutoFit/>
          </a:bodyPr>
          <a:lstStyle/>
          <a:p>
            <a:pPr algn="r">
              <a:lnSpc>
                <a:spcPct val="100000"/>
              </a:lnSpc>
            </a:pPr>
            <a:r>
              <a:rPr sz="1000" b="0" i="0">
                <a:solidFill>
                  <a:srgbClr val="9A9DA1"/>
                </a:solidFill>
                <a:latin typeface="Segoe UI"/>
              </a:rPr>
              <a:t>11</a:t>
            </a:r>
          </a:p>
        </p:txBody>
      </p:sp>
      <p:sp>
        <p:nvSpPr>
          <p:cNvPr id="3" name="TextBox 2"/>
          <p:cNvSpPr txBox="1"/>
          <p:nvPr/>
        </p:nvSpPr>
        <p:spPr>
          <a:xfrm>
            <a:off x="685800" y="457200"/>
            <a:ext cx="10789920" cy="822960"/>
          </a:xfrm>
          <a:prstGeom prst="rect">
            <a:avLst/>
          </a:prstGeom>
          <a:noFill/>
        </p:spPr>
        <p:txBody>
          <a:bodyPr wrap="square" anchor="t" lIns="0" rIns="0" tIns="0" bIns="0">
            <a:spAutoFit/>
          </a:bodyPr>
          <a:lstStyle/>
          <a:p>
            <a:pPr algn="l">
              <a:lnSpc>
                <a:spcPct val="100000"/>
              </a:lnSpc>
            </a:pPr>
            <a:r>
              <a:rPr sz="3000" b="1" i="0">
                <a:solidFill>
                  <a:srgbClr val="16171A"/>
                </a:solidFill>
                <a:latin typeface="Segoe UI Semibold"/>
              </a:rPr>
              <a:t>Conclusion</a:t>
            </a:r>
          </a:p>
        </p:txBody>
      </p:sp>
      <p:sp>
        <p:nvSpPr>
          <p:cNvPr id="4" name="Rounded Rectangle 3"/>
          <p:cNvSpPr/>
          <p:nvPr/>
        </p:nvSpPr>
        <p:spPr>
          <a:xfrm>
            <a:off x="685800" y="2103120"/>
            <a:ext cx="10820095" cy="1554480"/>
          </a:xfrm>
          <a:prstGeom prst="roundRect">
            <a:avLst>
              <a:gd name="adj" fmla="val 4000"/>
            </a:avLst>
          </a:prstGeom>
          <a:solidFill>
            <a:srgbClr val="FFFFFF"/>
          </a:solidFill>
          <a:ln w="12700">
            <a:solidFill>
              <a:srgbClr val="DA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423160"/>
            <a:ext cx="10088575" cy="1005840"/>
          </a:xfrm>
          <a:prstGeom prst="rect">
            <a:avLst/>
          </a:prstGeom>
          <a:noFill/>
        </p:spPr>
        <p:txBody>
          <a:bodyPr wrap="square" anchor="t" lIns="0" rIns="0" tIns="0" bIns="0">
            <a:spAutoFit/>
          </a:bodyPr>
          <a:lstStyle/>
          <a:p>
            <a:pPr algn="l">
              <a:lnSpc>
                <a:spcPct val="130000"/>
              </a:lnSpc>
            </a:pPr>
            <a:r>
              <a:rPr sz="1550" b="0" i="0">
                <a:solidFill>
                  <a:srgbClr val="5B5F66"/>
                </a:solidFill>
                <a:latin typeface="Segoe UI"/>
              </a:rPr>
              <a:t>Developed an integrated real-time tracking and anti-bunching dashboard for the Tumkur–Bangalore corridor, combining live WebSocket telemetry, proximity-based bunching detection, and admin-driven multi-route diversion in a single operator interface.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640080" cy="320040"/>
          </a:xfrm>
          <a:prstGeom prst="rect">
            <a:avLst/>
          </a:prstGeom>
          <a:noFill/>
        </p:spPr>
        <p:txBody>
          <a:bodyPr wrap="square" anchor="t" lIns="0" rIns="0" tIns="0" bIns="0">
            <a:spAutoFit/>
          </a:bodyPr>
          <a:lstStyle/>
          <a:p>
            <a:pPr algn="r">
              <a:lnSpc>
                <a:spcPct val="100000"/>
              </a:lnSpc>
            </a:pPr>
            <a:r>
              <a:rPr sz="1000" b="0" i="0">
                <a:solidFill>
                  <a:srgbClr val="9A9DA1"/>
                </a:solidFill>
                <a:latin typeface="Segoe UI"/>
              </a:rPr>
              <a:t>12</a:t>
            </a:r>
          </a:p>
        </p:txBody>
      </p:sp>
      <p:sp>
        <p:nvSpPr>
          <p:cNvPr id="3" name="TextBox 2"/>
          <p:cNvSpPr txBox="1"/>
          <p:nvPr/>
        </p:nvSpPr>
        <p:spPr>
          <a:xfrm>
            <a:off x="685800" y="457200"/>
            <a:ext cx="10789920" cy="822960"/>
          </a:xfrm>
          <a:prstGeom prst="rect">
            <a:avLst/>
          </a:prstGeom>
          <a:noFill/>
        </p:spPr>
        <p:txBody>
          <a:bodyPr wrap="square" anchor="t" lIns="0" rIns="0" tIns="0" bIns="0">
            <a:spAutoFit/>
          </a:bodyPr>
          <a:lstStyle/>
          <a:p>
            <a:pPr algn="l">
              <a:lnSpc>
                <a:spcPct val="100000"/>
              </a:lnSpc>
            </a:pPr>
            <a:r>
              <a:rPr sz="3000" b="1" i="0">
                <a:solidFill>
                  <a:srgbClr val="16171A"/>
                </a:solidFill>
                <a:latin typeface="Segoe UI Semibold"/>
              </a:rPr>
              <a:t>References</a:t>
            </a:r>
          </a:p>
        </p:txBody>
      </p:sp>
      <p:sp>
        <p:nvSpPr>
          <p:cNvPr id="4" name="TextBox 3"/>
          <p:cNvSpPr txBox="1"/>
          <p:nvPr/>
        </p:nvSpPr>
        <p:spPr>
          <a:xfrm>
            <a:off x="685800" y="1371600"/>
            <a:ext cx="10820095" cy="5120640"/>
          </a:xfrm>
          <a:prstGeom prst="rect">
            <a:avLst/>
          </a:prstGeom>
          <a:noFill/>
        </p:spPr>
        <p:txBody>
          <a:bodyPr wrap="square" lIns="0" rIns="0">
            <a:spAutoFit/>
          </a:bodyPr>
          <a:lstStyle/>
          <a:p>
            <a:pPr>
              <a:lnSpc>
                <a:spcPct val="115000"/>
              </a:lnSpc>
              <a:spcAft>
                <a:spcPts val="900"/>
              </a:spcAft>
            </a:pPr>
            <a:r>
              <a:rPr sz="1150" b="0" i="0">
                <a:solidFill>
                  <a:srgbClr val="5B5F66"/>
                </a:solidFill>
                <a:latin typeface="Segoe UI"/>
              </a:rPr>
              <a:t>1.  Eaton, J. et al., Ant Colony Optimization for Simulated Dynamic Multi-Objective Railway Junction Rescheduling, 2017.</a:t>
            </a:r>
          </a:p>
          <a:p>
            <a:pPr>
              <a:lnSpc>
                <a:spcPct val="115000"/>
              </a:lnSpc>
              <a:spcAft>
                <a:spcPts val="900"/>
              </a:spcAft>
            </a:pPr>
            <a:r>
              <a:rPr sz="1150" b="0" i="0">
                <a:solidFill>
                  <a:srgbClr val="5B5F66"/>
                </a:solidFill>
                <a:latin typeface="Segoe UI"/>
              </a:rPr>
              <a:t>2.  Sun, L. et al., Hybrid Cooperative Co-evolution Algorithm for Uncertain Vehicle Scheduling, 2018.</a:t>
            </a:r>
          </a:p>
          <a:p>
            <a:pPr>
              <a:lnSpc>
                <a:spcPct val="115000"/>
              </a:lnSpc>
              <a:spcAft>
                <a:spcPts val="900"/>
              </a:spcAft>
            </a:pPr>
            <a:r>
              <a:rPr sz="1150" b="0" i="0">
                <a:solidFill>
                  <a:srgbClr val="5B5F66"/>
                </a:solidFill>
                <a:latin typeface="Segoe UI"/>
              </a:rPr>
              <a:t>3.  Deng, W. et al., An Improved Ant Colony Optimization Algorithm Based on Hybrid Strategies for Scheduling Problem, 2019.</a:t>
            </a:r>
          </a:p>
          <a:p>
            <a:pPr>
              <a:lnSpc>
                <a:spcPct val="115000"/>
              </a:lnSpc>
              <a:spcAft>
                <a:spcPts val="900"/>
              </a:spcAft>
            </a:pPr>
            <a:r>
              <a:rPr sz="1150" b="0" i="0">
                <a:solidFill>
                  <a:srgbClr val="5B5F66"/>
                </a:solidFill>
                <a:latin typeface="Segoe UI"/>
              </a:rPr>
              <a:t>4.  Zhang, Q. et al., An Improved Multi-Objective Quantum-Behaved Particle Swarm Optimization for Railway Freight Transportation Routing Design, 2019.</a:t>
            </a:r>
          </a:p>
          <a:p>
            <a:pPr>
              <a:lnSpc>
                <a:spcPct val="115000"/>
              </a:lnSpc>
              <a:spcAft>
                <a:spcPts val="900"/>
              </a:spcAft>
            </a:pPr>
            <a:r>
              <a:rPr sz="1150" b="0" i="0">
                <a:solidFill>
                  <a:srgbClr val="5B5F66"/>
                </a:solidFill>
                <a:latin typeface="Segoe UI"/>
              </a:rPr>
              <a:t>5.  Wu, L. et al., Brainstorming-Based Ant Colony Optimization for Vehicle Routing With Soft Time Windows, 2019.</a:t>
            </a:r>
          </a:p>
          <a:p>
            <a:pPr>
              <a:lnSpc>
                <a:spcPct val="115000"/>
              </a:lnSpc>
              <a:spcAft>
                <a:spcPts val="900"/>
              </a:spcAft>
            </a:pPr>
            <a:r>
              <a:rPr sz="1150" b="0" i="0">
                <a:solidFill>
                  <a:srgbClr val="5B5F66"/>
                </a:solidFill>
                <a:latin typeface="Segoe UI"/>
              </a:rPr>
              <a:t>6.  Liu, W., Route Optimization for Last-Mile Distribution of Rural E-Commerce Logistics Based on ACO, 2020.</a:t>
            </a:r>
          </a:p>
          <a:p>
            <a:pPr>
              <a:lnSpc>
                <a:spcPct val="115000"/>
              </a:lnSpc>
              <a:spcAft>
                <a:spcPts val="900"/>
              </a:spcAft>
            </a:pPr>
            <a:r>
              <a:rPr sz="1150" b="0" i="0">
                <a:solidFill>
                  <a:srgbClr val="5B5F66"/>
                </a:solidFill>
                <a:latin typeface="Segoe UI"/>
              </a:rPr>
              <a:t>7.  Song, Q. et al., Dynamic Path Planning for Unmanned Vehicles Based on Fuzzy Logic and Improved Ant Colony Optimization, 2020.</a:t>
            </a:r>
          </a:p>
          <a:p>
            <a:pPr>
              <a:lnSpc>
                <a:spcPct val="115000"/>
              </a:lnSpc>
              <a:spcAft>
                <a:spcPts val="900"/>
              </a:spcAft>
            </a:pPr>
            <a:r>
              <a:rPr sz="1150" b="0" i="0">
                <a:solidFill>
                  <a:srgbClr val="5B5F66"/>
                </a:solidFill>
                <a:latin typeface="Segoe UI"/>
              </a:rPr>
              <a:t>8.  Wang, Z. et al., Modeling and Planning Multimodal Transport Paths for Risk and Energy Efficiency, 2020.</a:t>
            </a:r>
          </a:p>
          <a:p>
            <a:pPr>
              <a:lnSpc>
                <a:spcPct val="115000"/>
              </a:lnSpc>
              <a:spcAft>
                <a:spcPts val="900"/>
              </a:spcAft>
            </a:pPr>
            <a:r>
              <a:rPr sz="1150" b="0" i="0">
                <a:solidFill>
                  <a:srgbClr val="5B5F66"/>
                </a:solidFill>
                <a:latin typeface="Segoe UI"/>
              </a:rPr>
              <a:t>9.  Liu, D. et al., Two-Echelon Vehicle-Routing Problem: Optimization of Autonomous Delivery Vehicle-Assisted E-Grocery Distribution, 2020.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640080" cy="320040"/>
          </a:xfrm>
          <a:prstGeom prst="rect">
            <a:avLst/>
          </a:prstGeom>
          <a:noFill/>
        </p:spPr>
        <p:txBody>
          <a:bodyPr wrap="square" anchor="t" lIns="0" rIns="0" tIns="0" bIns="0">
            <a:spAutoFit/>
          </a:bodyPr>
          <a:lstStyle/>
          <a:p>
            <a:pPr algn="r">
              <a:lnSpc>
                <a:spcPct val="100000"/>
              </a:lnSpc>
            </a:pPr>
            <a:r>
              <a:rPr sz="1000" b="0" i="0">
                <a:solidFill>
                  <a:srgbClr val="9A9DA1"/>
                </a:solidFill>
                <a:latin typeface="Segoe UI"/>
              </a:rPr>
              <a:t>13</a:t>
            </a:r>
          </a:p>
        </p:txBody>
      </p:sp>
      <p:sp>
        <p:nvSpPr>
          <p:cNvPr id="3" name="TextBox 2"/>
          <p:cNvSpPr txBox="1"/>
          <p:nvPr/>
        </p:nvSpPr>
        <p:spPr>
          <a:xfrm>
            <a:off x="685800" y="457200"/>
            <a:ext cx="10789920" cy="822960"/>
          </a:xfrm>
          <a:prstGeom prst="rect">
            <a:avLst/>
          </a:prstGeom>
          <a:noFill/>
        </p:spPr>
        <p:txBody>
          <a:bodyPr wrap="square" anchor="t" lIns="0" rIns="0" tIns="0" bIns="0">
            <a:spAutoFit/>
          </a:bodyPr>
          <a:lstStyle/>
          <a:p>
            <a:pPr algn="l">
              <a:lnSpc>
                <a:spcPct val="100000"/>
              </a:lnSpc>
            </a:pPr>
            <a:r>
              <a:rPr sz="3000" b="1" i="0">
                <a:solidFill>
                  <a:srgbClr val="16171A"/>
                </a:solidFill>
                <a:latin typeface="Segoe UI Semibold"/>
              </a:rPr>
              <a:t>References (continued)</a:t>
            </a:r>
          </a:p>
        </p:txBody>
      </p:sp>
      <p:sp>
        <p:nvSpPr>
          <p:cNvPr id="4" name="TextBox 3"/>
          <p:cNvSpPr txBox="1"/>
          <p:nvPr/>
        </p:nvSpPr>
        <p:spPr>
          <a:xfrm>
            <a:off x="685800" y="1371600"/>
            <a:ext cx="10820095" cy="5120640"/>
          </a:xfrm>
          <a:prstGeom prst="rect">
            <a:avLst/>
          </a:prstGeom>
          <a:noFill/>
        </p:spPr>
        <p:txBody>
          <a:bodyPr wrap="square" lIns="0" rIns="0">
            <a:spAutoFit/>
          </a:bodyPr>
          <a:lstStyle/>
          <a:p>
            <a:pPr>
              <a:lnSpc>
                <a:spcPct val="115000"/>
              </a:lnSpc>
              <a:spcAft>
                <a:spcPts val="900"/>
              </a:spcAft>
            </a:pPr>
            <a:r>
              <a:rPr sz="1150" b="0" i="0">
                <a:solidFill>
                  <a:srgbClr val="5B5F66"/>
                </a:solidFill>
                <a:latin typeface="Segoe UI"/>
              </a:rPr>
              <a:t>10.  Zeng, X. et al., Traveling Salesman Problems With Replenishment Arcs and Improved Ant Colony Algorithms, 2021.</a:t>
            </a:r>
          </a:p>
          <a:p>
            <a:pPr>
              <a:lnSpc>
                <a:spcPct val="115000"/>
              </a:lnSpc>
              <a:spcAft>
                <a:spcPts val="900"/>
              </a:spcAft>
            </a:pPr>
            <a:r>
              <a:rPr sz="1150" b="0" i="0">
                <a:solidFill>
                  <a:srgbClr val="5B5F66"/>
                </a:solidFill>
                <a:latin typeface="Segoe UI"/>
              </a:rPr>
              <a:t>11.  Ling, H. et al., An Adaptive Parameter Controlled Ant Colony Optimization Approach for Peer-to-Peer Vehicle and Cargo Matching, 2021.</a:t>
            </a:r>
          </a:p>
          <a:p>
            <a:pPr>
              <a:lnSpc>
                <a:spcPct val="115000"/>
              </a:lnSpc>
              <a:spcAft>
                <a:spcPts val="900"/>
              </a:spcAft>
            </a:pPr>
            <a:r>
              <a:rPr sz="1150" b="0" i="0">
                <a:solidFill>
                  <a:srgbClr val="5B5F66"/>
                </a:solidFill>
                <a:latin typeface="Segoe UI"/>
              </a:rPr>
              <a:t>12.  Lodewijks, G. et al., Reducing CO₂ Emissions of an Airport Baggage Handling Transport System Using a Particle Swarm Optimization Algorithm, 2021.</a:t>
            </a:r>
          </a:p>
          <a:p>
            <a:pPr>
              <a:lnSpc>
                <a:spcPct val="115000"/>
              </a:lnSpc>
              <a:spcAft>
                <a:spcPts val="900"/>
              </a:spcAft>
            </a:pPr>
            <a:r>
              <a:rPr sz="1150" b="0" i="0">
                <a:solidFill>
                  <a:srgbClr val="5B5F66"/>
                </a:solidFill>
                <a:latin typeface="Segoe UI"/>
              </a:rPr>
              <a:t>13.  Li, J. et al., A Multiobjective Ant Colony System Considering Travel and Pollution Costs for Vehicle Routing in Epidemics, 2022.</a:t>
            </a:r>
          </a:p>
          <a:p>
            <a:pPr>
              <a:lnSpc>
                <a:spcPct val="115000"/>
              </a:lnSpc>
              <a:spcAft>
                <a:spcPts val="900"/>
              </a:spcAft>
            </a:pPr>
            <a:r>
              <a:rPr sz="1150" b="0" i="0">
                <a:solidFill>
                  <a:srgbClr val="5B5F66"/>
                </a:solidFill>
                <a:latin typeface="Segoe UI"/>
              </a:rPr>
              <a:t>14.  Govindaraju, S. et al., Intelligent Transportation System's Machine Learning-Based Traffic Prediction, 2024.</a:t>
            </a:r>
          </a:p>
          <a:p>
            <a:pPr>
              <a:lnSpc>
                <a:spcPct val="115000"/>
              </a:lnSpc>
              <a:spcAft>
                <a:spcPts val="900"/>
              </a:spcAft>
            </a:pPr>
            <a:r>
              <a:rPr sz="1150" b="0" i="0">
                <a:solidFill>
                  <a:srgbClr val="5B5F66"/>
                </a:solidFill>
                <a:latin typeface="Segoe UI"/>
              </a:rPr>
              <a:t>15.  Afolayan, B. I. et al., Emerging Trends in Machine Learning Assisted Optimization Techniques Across Intelligent Transportation Systems, 2024.</a:t>
            </a:r>
          </a:p>
          <a:p>
            <a:pPr>
              <a:lnSpc>
                <a:spcPct val="115000"/>
              </a:lnSpc>
              <a:spcAft>
                <a:spcPts val="900"/>
              </a:spcAft>
            </a:pPr>
            <a:r>
              <a:rPr sz="1150" b="0" i="0">
                <a:solidFill>
                  <a:srgbClr val="5B5F66"/>
                </a:solidFill>
                <a:latin typeface="Segoe UI"/>
              </a:rPr>
              <a:t>16.  Xu, P. et al., Ship Formation and Route Optimization Design Based on Improved PSO and D-P Algorithm, 2024.</a:t>
            </a:r>
          </a:p>
          <a:p>
            <a:pPr>
              <a:lnSpc>
                <a:spcPct val="115000"/>
              </a:lnSpc>
              <a:spcAft>
                <a:spcPts val="900"/>
              </a:spcAft>
            </a:pPr>
            <a:r>
              <a:rPr sz="1150" b="0" i="0">
                <a:solidFill>
                  <a:srgbClr val="5B5F66"/>
                </a:solidFill>
                <a:latin typeface="Segoe UI"/>
              </a:rPr>
              <a:t>17.  Hassan, M. et al., Application of Machine Learning in Intelligent Transport Systems: A Comprehensive Review and Bibliometric Analysis, 2025.</a:t>
            </a:r>
          </a:p>
          <a:p>
            <a:pPr>
              <a:lnSpc>
                <a:spcPct val="115000"/>
              </a:lnSpc>
              <a:spcAft>
                <a:spcPts val="900"/>
              </a:spcAft>
            </a:pPr>
            <a:r>
              <a:rPr sz="1150" b="0" i="0">
                <a:solidFill>
                  <a:srgbClr val="5B5F66"/>
                </a:solidFill>
                <a:latin typeface="Segoe UI"/>
              </a:rPr>
              <a:t>18.  Ngo, T. &amp; Van, T., Damage Detection in Bridges by Hybrid Particle Swarm Optimization–Simulated Annealing (PSO-SA) Approach,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